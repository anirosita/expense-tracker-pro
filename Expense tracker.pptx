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8288000" cy="10287000"/>
  <p:notesSz cx="6858000" cy="9144000"/>
  <p:embeddedFontLst>
    <p:embeddedFont>
      <p:font typeface="Archivo Black" panose="020B0604020202020204" charset="0"/>
      <p:regular r:id="rId21"/>
    </p:embeddedFont>
    <p:embeddedFont>
      <p:font typeface="League Spartan" panose="020B0604020202020204" charset="0"/>
      <p:regular r:id="rId22"/>
    </p:embeddedFont>
    <p:embeddedFont>
      <p:font typeface="Poppins" panose="00000500000000000000" pitchFamily="2" charset="0"/>
      <p:regular r:id="rId23"/>
    </p:embeddedFont>
    <p:embeddedFont>
      <p:font typeface="Poppins Bold" panose="020B0604020202020204" charset="0"/>
      <p:regular r:id="rId24"/>
    </p:embeddedFont>
    <p:embeddedFont>
      <p:font typeface="Roboto" panose="02000000000000000000" pitchFamily="2" charset="0"/>
      <p:regular r:id="rId25"/>
    </p:embeddedFont>
    <p:embeddedFont>
      <p:font typeface="Roboto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360FC6-7A05-4F40-A190-82A65DAE6FD9}" v="3" dt="2026-07-30T17:15:13.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hyperlink" Target="https://anirosita.github.io/expense-tracker-pr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615" y="-9041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4220957" y="4506120"/>
            <a:ext cx="9846085" cy="1418823"/>
          </a:xfrm>
          <a:prstGeom prst="rect">
            <a:avLst/>
          </a:prstGeom>
        </p:spPr>
        <p:txBody>
          <a:bodyPr lIns="0" tIns="0" rIns="0" bIns="0" rtlCol="0" anchor="t">
            <a:spAutoFit/>
          </a:bodyPr>
          <a:lstStyle/>
          <a:p>
            <a:pPr algn="ctr">
              <a:lnSpc>
                <a:spcPts val="11572"/>
              </a:lnSpc>
            </a:pPr>
            <a:r>
              <a:rPr lang="en-US" sz="8265" b="1" dirty="0">
                <a:solidFill>
                  <a:srgbClr val="004AAD"/>
                </a:solidFill>
                <a:latin typeface="League Spartan"/>
                <a:ea typeface="League Spartan"/>
                <a:cs typeface="League Spartan"/>
                <a:sym typeface="League Spartan"/>
              </a:rPr>
              <a:t>PRESENTATION</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IN"/>
            </a:p>
          </p:txBody>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6323004" y="3528848"/>
            <a:ext cx="5641992" cy="913044"/>
          </a:xfrm>
          <a:prstGeom prst="rect">
            <a:avLst/>
          </a:prstGeom>
        </p:spPr>
        <p:txBody>
          <a:bodyPr lIns="0" tIns="0" rIns="0" bIns="0" rtlCol="0" anchor="t">
            <a:spAutoFit/>
          </a:bodyPr>
          <a:lstStyle/>
          <a:p>
            <a:pPr algn="ctr">
              <a:lnSpc>
                <a:spcPts val="7424"/>
              </a:lnSpc>
            </a:pPr>
            <a:r>
              <a:rPr lang="en-US" sz="5303" b="1">
                <a:solidFill>
                  <a:srgbClr val="303642"/>
                </a:solidFill>
                <a:latin typeface="Roboto Bold"/>
                <a:ea typeface="Roboto Bold"/>
                <a:cs typeface="Roboto Bold"/>
                <a:sym typeface="Roboto Bold"/>
              </a:rPr>
              <a:t>PROJECT</a:t>
            </a:r>
          </a:p>
        </p:txBody>
      </p:sp>
      <p:sp>
        <p:nvSpPr>
          <p:cNvPr id="8" name="TextBox 8"/>
          <p:cNvSpPr txBox="1"/>
          <p:nvPr/>
        </p:nvSpPr>
        <p:spPr>
          <a:xfrm>
            <a:off x="4880587" y="6162575"/>
            <a:ext cx="8526827" cy="563379"/>
          </a:xfrm>
          <a:prstGeom prst="rect">
            <a:avLst/>
          </a:prstGeom>
        </p:spPr>
        <p:txBody>
          <a:bodyPr lIns="0" tIns="0" rIns="0" bIns="0" rtlCol="0" anchor="t">
            <a:spAutoFit/>
          </a:bodyPr>
          <a:lstStyle/>
          <a:p>
            <a:pPr algn="ctr">
              <a:lnSpc>
                <a:spcPts val="4647"/>
              </a:lnSpc>
              <a:spcBef>
                <a:spcPct val="0"/>
              </a:spcBef>
            </a:pPr>
            <a:r>
              <a:rPr lang="en-US" sz="3319">
                <a:solidFill>
                  <a:srgbClr val="303642"/>
                </a:solidFill>
                <a:latin typeface="League Spartan"/>
                <a:ea typeface="League Spartan"/>
                <a:cs typeface="League Spartan"/>
                <a:sym typeface="League Spartan"/>
              </a:rPr>
              <a:t>Expense Tracker - Pro </a:t>
            </a:r>
          </a:p>
        </p:txBody>
      </p:sp>
      <p:grpSp>
        <p:nvGrpSpPr>
          <p:cNvPr id="9" name="Group 9"/>
          <p:cNvGrpSpPr/>
          <p:nvPr/>
        </p:nvGrpSpPr>
        <p:grpSpPr>
          <a:xfrm>
            <a:off x="16467343" y="4057750"/>
            <a:ext cx="3086100" cy="21714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IN"/>
            </a:p>
          </p:txBody>
        </p:sp>
        <p:sp>
          <p:nvSpPr>
            <p:cNvPr id="11" name="TextBox 11"/>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3014150" y="7571963"/>
            <a:ext cx="3017937" cy="524054"/>
          </a:xfrm>
          <a:prstGeom prst="rect">
            <a:avLst/>
          </a:prstGeom>
        </p:spPr>
        <p:txBody>
          <a:bodyPr lIns="0" tIns="0" rIns="0" bIns="0" rtlCol="0" anchor="t">
            <a:spAutoFit/>
          </a:bodyPr>
          <a:lstStyle/>
          <a:p>
            <a:pPr algn="ctr">
              <a:lnSpc>
                <a:spcPts val="4339"/>
              </a:lnSpc>
              <a:spcBef>
                <a:spcPct val="0"/>
              </a:spcBef>
            </a:pPr>
            <a:r>
              <a:rPr lang="en-US" sz="3099" dirty="0">
                <a:solidFill>
                  <a:srgbClr val="000000"/>
                </a:solidFill>
                <a:latin typeface="Archivo Black"/>
                <a:ea typeface="Archivo Black"/>
                <a:cs typeface="Archivo Black"/>
                <a:sym typeface="Archivo Black"/>
              </a:rPr>
              <a:t>Submitted By:</a:t>
            </a:r>
          </a:p>
        </p:txBody>
      </p:sp>
      <p:sp>
        <p:nvSpPr>
          <p:cNvPr id="13" name="TextBox 13"/>
          <p:cNvSpPr txBox="1"/>
          <p:nvPr/>
        </p:nvSpPr>
        <p:spPr>
          <a:xfrm>
            <a:off x="11506200" y="8132841"/>
            <a:ext cx="5410200" cy="1991058"/>
          </a:xfrm>
          <a:prstGeom prst="rect">
            <a:avLst/>
          </a:prstGeom>
        </p:spPr>
        <p:txBody>
          <a:bodyPr wrap="square" lIns="0" tIns="0" rIns="0" bIns="0" rtlCol="0" anchor="t">
            <a:spAutoFit/>
          </a:bodyPr>
          <a:lstStyle/>
          <a:p>
            <a:pPr algn="ctr">
              <a:lnSpc>
                <a:spcPts val="5324"/>
              </a:lnSpc>
            </a:pPr>
            <a:r>
              <a:rPr lang="en-US" sz="2800" b="1" dirty="0">
                <a:solidFill>
                  <a:srgbClr val="303642"/>
                </a:solidFill>
                <a:latin typeface="Roboto Bold"/>
                <a:ea typeface="Roboto Bold"/>
                <a:cs typeface="Roboto Bold"/>
                <a:sym typeface="Roboto Bold"/>
              </a:rPr>
              <a:t>  M. ANI ROSITA</a:t>
            </a:r>
          </a:p>
          <a:p>
            <a:pPr algn="ctr">
              <a:lnSpc>
                <a:spcPts val="5324"/>
              </a:lnSpc>
            </a:pPr>
            <a:r>
              <a:rPr lang="en-US" sz="2800" b="1" dirty="0">
                <a:solidFill>
                  <a:srgbClr val="303642"/>
                </a:solidFill>
                <a:latin typeface="Roboto Bold"/>
                <a:ea typeface="Roboto Bold"/>
                <a:cs typeface="Roboto Bold"/>
                <a:sym typeface="Roboto Bold"/>
              </a:rPr>
              <a:t>A.RUBI ANITHA</a:t>
            </a:r>
          </a:p>
          <a:p>
            <a:pPr algn="ctr">
              <a:lnSpc>
                <a:spcPts val="5324"/>
              </a:lnSpc>
            </a:pPr>
            <a:r>
              <a:rPr lang="en-US" sz="2800" b="1" dirty="0">
                <a:solidFill>
                  <a:srgbClr val="303642"/>
                </a:solidFill>
                <a:latin typeface="Roboto Bold"/>
                <a:ea typeface="Roboto Bold"/>
                <a:cs typeface="Roboto Bold"/>
                <a:sym typeface="Roboto Bold"/>
              </a:rPr>
              <a:t>I.LOURDHU SABEENA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709411" y="167724"/>
            <a:ext cx="6792707" cy="10287000"/>
            <a:chOff x="0" y="0"/>
            <a:chExt cx="1789026" cy="2709333"/>
          </a:xfrm>
        </p:grpSpPr>
        <p:sp>
          <p:nvSpPr>
            <p:cNvPr id="4" name="Freeform 4"/>
            <p:cNvSpPr/>
            <p:nvPr/>
          </p:nvSpPr>
          <p:spPr>
            <a:xfrm>
              <a:off x="0" y="0"/>
              <a:ext cx="1789026" cy="2709333"/>
            </a:xfrm>
            <a:custGeom>
              <a:avLst/>
              <a:gdLst/>
              <a:ahLst/>
              <a:cxnLst/>
              <a:rect l="l" t="t" r="r" b="b"/>
              <a:pathLst>
                <a:path w="1789026" h="2709333">
                  <a:moveTo>
                    <a:pt x="0" y="0"/>
                  </a:moveTo>
                  <a:lnTo>
                    <a:pt x="1789026" y="0"/>
                  </a:lnTo>
                  <a:lnTo>
                    <a:pt x="1789026" y="2709333"/>
                  </a:lnTo>
                  <a:lnTo>
                    <a:pt x="0" y="2709333"/>
                  </a:lnTo>
                  <a:close/>
                </a:path>
              </a:pathLst>
            </a:custGeom>
            <a:solidFill>
              <a:srgbClr val="004AAD"/>
            </a:solidFill>
          </p:spPr>
          <p:txBody>
            <a:bodyPr/>
            <a:lstStyle/>
            <a:p>
              <a:endParaRPr lang="en-IN"/>
            </a:p>
          </p:txBody>
        </p:sp>
        <p:sp>
          <p:nvSpPr>
            <p:cNvPr id="5" name="TextBox 5"/>
            <p:cNvSpPr txBox="1"/>
            <p:nvPr/>
          </p:nvSpPr>
          <p:spPr>
            <a:xfrm>
              <a:off x="0" y="-47625"/>
              <a:ext cx="1789026"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446818" y="8630505"/>
            <a:ext cx="897167" cy="2183545"/>
            <a:chOff x="0" y="0"/>
            <a:chExt cx="236291" cy="575090"/>
          </a:xfrm>
        </p:grpSpPr>
        <p:sp>
          <p:nvSpPr>
            <p:cNvPr id="7" name="Freeform 7"/>
            <p:cNvSpPr/>
            <p:nvPr/>
          </p:nvSpPr>
          <p:spPr>
            <a:xfrm>
              <a:off x="0" y="0"/>
              <a:ext cx="236291" cy="575090"/>
            </a:xfrm>
            <a:custGeom>
              <a:avLst/>
              <a:gdLst/>
              <a:ahLst/>
              <a:cxnLst/>
              <a:rect l="l" t="t" r="r" b="b"/>
              <a:pathLst>
                <a:path w="236291" h="575090">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txBody>
            <a:bodyPr/>
            <a:lstStyle/>
            <a:p>
              <a:endParaRPr lang="en-IN"/>
            </a:p>
          </p:txBody>
        </p:sp>
        <p:sp>
          <p:nvSpPr>
            <p:cNvPr id="8" name="TextBox 8"/>
            <p:cNvSpPr txBox="1"/>
            <p:nvPr/>
          </p:nvSpPr>
          <p:spPr>
            <a:xfrm>
              <a:off x="0" y="-47625"/>
              <a:ext cx="236291" cy="622715"/>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9144000" y="546451"/>
            <a:ext cx="6841623" cy="9194098"/>
            <a:chOff x="0" y="0"/>
            <a:chExt cx="3663950" cy="4923790"/>
          </a:xfrm>
        </p:grpSpPr>
        <p:sp>
          <p:nvSpPr>
            <p:cNvPr id="10" name="Freeform 10"/>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17477" r="-17477"/>
              </a:stretch>
            </a:blipFill>
          </p:spPr>
          <p:txBody>
            <a:bodyPr/>
            <a:lstStyle/>
            <a:p>
              <a:endParaRPr lang="en-IN"/>
            </a:p>
          </p:txBody>
        </p:sp>
        <p:sp>
          <p:nvSpPr>
            <p:cNvPr id="11" name="Freeform 11"/>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
        <p:nvSpPr>
          <p:cNvPr id="12" name="TextBox 12"/>
          <p:cNvSpPr txBox="1"/>
          <p:nvPr/>
        </p:nvSpPr>
        <p:spPr>
          <a:xfrm>
            <a:off x="1408260" y="1857812"/>
            <a:ext cx="4243380" cy="794805"/>
          </a:xfrm>
          <a:prstGeom prst="rect">
            <a:avLst/>
          </a:prstGeom>
        </p:spPr>
        <p:txBody>
          <a:bodyPr lIns="0" tIns="0" rIns="0" bIns="0" rtlCol="0" anchor="t">
            <a:spAutoFit/>
          </a:bodyPr>
          <a:lstStyle/>
          <a:p>
            <a:pPr algn="l">
              <a:lnSpc>
                <a:spcPts val="6591"/>
              </a:lnSpc>
            </a:pPr>
            <a:r>
              <a:rPr lang="en-US" sz="4708" b="1">
                <a:solidFill>
                  <a:srgbClr val="FFFFFF"/>
                </a:solidFill>
                <a:latin typeface="League Spartan"/>
                <a:ea typeface="League Spartan"/>
                <a:cs typeface="League Spartan"/>
                <a:sym typeface="League Spartan"/>
              </a:rPr>
              <a:t>ABSTRACT</a:t>
            </a:r>
          </a:p>
        </p:txBody>
      </p:sp>
      <p:sp>
        <p:nvSpPr>
          <p:cNvPr id="13" name="TextBox 13"/>
          <p:cNvSpPr txBox="1"/>
          <p:nvPr/>
        </p:nvSpPr>
        <p:spPr>
          <a:xfrm>
            <a:off x="869055" y="2705374"/>
            <a:ext cx="6473418" cy="5135499"/>
          </a:xfrm>
          <a:prstGeom prst="rect">
            <a:avLst/>
          </a:prstGeom>
        </p:spPr>
        <p:txBody>
          <a:bodyPr lIns="0" tIns="0" rIns="0" bIns="0" rtlCol="0" anchor="t">
            <a:spAutoFit/>
          </a:bodyPr>
          <a:lstStyle/>
          <a:p>
            <a:pPr algn="l">
              <a:lnSpc>
                <a:spcPts val="3419"/>
              </a:lnSpc>
              <a:spcBef>
                <a:spcPct val="0"/>
              </a:spcBef>
            </a:pPr>
            <a:endParaRPr/>
          </a:p>
          <a:p>
            <a:pPr algn="l">
              <a:lnSpc>
                <a:spcPts val="3419"/>
              </a:lnSpc>
              <a:spcBef>
                <a:spcPct val="0"/>
              </a:spcBef>
            </a:pPr>
            <a:r>
              <a:rPr lang="en-US" sz="2442">
                <a:solidFill>
                  <a:srgbClr val="FFFFFF"/>
                </a:solidFill>
                <a:latin typeface="Poppins"/>
                <a:ea typeface="Poppins"/>
                <a:cs typeface="Poppins"/>
                <a:sym typeface="Poppins"/>
              </a:rPr>
              <a:t>The *Expense Tracker* is a web-based application designed to help users manage their daily income and expenses. It allows users to add transactions, track spending, view reports and charts, and monitor their financial balance. The project is developed using *HTML, CSS, JavaScript, and Local Storage*, providing a simple, user-friendly, and efficient way to manage personal finances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1908043" y="0"/>
            <a:ext cx="6379957" cy="10287000"/>
            <a:chOff x="0" y="0"/>
            <a:chExt cx="1680318" cy="2709333"/>
          </a:xfrm>
        </p:grpSpPr>
        <p:sp>
          <p:nvSpPr>
            <p:cNvPr id="4" name="Freeform 4"/>
            <p:cNvSpPr/>
            <p:nvPr/>
          </p:nvSpPr>
          <p:spPr>
            <a:xfrm>
              <a:off x="0" y="0"/>
              <a:ext cx="1680318" cy="2709333"/>
            </a:xfrm>
            <a:custGeom>
              <a:avLst/>
              <a:gdLst/>
              <a:ahLst/>
              <a:cxnLst/>
              <a:rect l="l" t="t" r="r" b="b"/>
              <a:pathLst>
                <a:path w="1680318" h="2709333">
                  <a:moveTo>
                    <a:pt x="0" y="0"/>
                  </a:moveTo>
                  <a:lnTo>
                    <a:pt x="1680318" y="0"/>
                  </a:lnTo>
                  <a:lnTo>
                    <a:pt x="1680318" y="2709333"/>
                  </a:lnTo>
                  <a:lnTo>
                    <a:pt x="0" y="2709333"/>
                  </a:lnTo>
                  <a:close/>
                </a:path>
              </a:pathLst>
            </a:custGeom>
            <a:solidFill>
              <a:srgbClr val="004AAD"/>
            </a:solidFill>
          </p:spPr>
          <p:txBody>
            <a:bodyPr/>
            <a:lstStyle/>
            <a:p>
              <a:endParaRPr lang="en-IN"/>
            </a:p>
          </p:txBody>
        </p:sp>
        <p:sp>
          <p:nvSpPr>
            <p:cNvPr id="5" name="TextBox 5"/>
            <p:cNvSpPr txBox="1"/>
            <p:nvPr/>
          </p:nvSpPr>
          <p:spPr>
            <a:xfrm>
              <a:off x="0" y="-47625"/>
              <a:ext cx="1680318"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640583" y="1606753"/>
            <a:ext cx="1868266" cy="186826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640583" y="4210291"/>
            <a:ext cx="1868266" cy="186826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en-IN"/>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0640583" y="6811982"/>
            <a:ext cx="1868266" cy="1868266"/>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en-IN"/>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970541" y="2006345"/>
            <a:ext cx="1601933" cy="6466659"/>
            <a:chOff x="0" y="0"/>
            <a:chExt cx="421908" cy="1703153"/>
          </a:xfrm>
        </p:grpSpPr>
        <p:sp>
          <p:nvSpPr>
            <p:cNvPr id="16" name="Freeform 16"/>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en-IN"/>
            </a:p>
          </p:txBody>
        </p:sp>
        <p:sp>
          <p:nvSpPr>
            <p:cNvPr id="17" name="TextBox 17"/>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0991884" y="7163283"/>
            <a:ext cx="1165663" cy="1165663"/>
          </a:xfrm>
          <a:custGeom>
            <a:avLst/>
            <a:gdLst/>
            <a:ahLst/>
            <a:cxnLst/>
            <a:rect l="l" t="t" r="r" b="b"/>
            <a:pathLst>
              <a:path w="1165663" h="1165663">
                <a:moveTo>
                  <a:pt x="0" y="0"/>
                </a:moveTo>
                <a:lnTo>
                  <a:pt x="1165663" y="0"/>
                </a:lnTo>
                <a:lnTo>
                  <a:pt x="1165663" y="1165663"/>
                </a:lnTo>
                <a:lnTo>
                  <a:pt x="0" y="1165663"/>
                </a:lnTo>
                <a:lnTo>
                  <a:pt x="0" y="0"/>
                </a:lnTo>
                <a:close/>
              </a:path>
            </a:pathLst>
          </a:custGeom>
          <a:blipFill>
            <a:blip r:embed="rId3"/>
            <a:stretch>
              <a:fillRect/>
            </a:stretch>
          </a:blipFill>
        </p:spPr>
        <p:txBody>
          <a:bodyPr/>
          <a:lstStyle/>
          <a:p>
            <a:endParaRPr lang="en-IN"/>
          </a:p>
        </p:txBody>
      </p:sp>
      <p:sp>
        <p:nvSpPr>
          <p:cNvPr id="19" name="Freeform 19"/>
          <p:cNvSpPr/>
          <p:nvPr/>
        </p:nvSpPr>
        <p:spPr>
          <a:xfrm>
            <a:off x="11065738" y="2006345"/>
            <a:ext cx="1091809" cy="1091809"/>
          </a:xfrm>
          <a:custGeom>
            <a:avLst/>
            <a:gdLst/>
            <a:ahLst/>
            <a:cxnLst/>
            <a:rect l="l" t="t" r="r" b="b"/>
            <a:pathLst>
              <a:path w="1091809" h="1091809">
                <a:moveTo>
                  <a:pt x="0" y="0"/>
                </a:moveTo>
                <a:lnTo>
                  <a:pt x="1091809" y="0"/>
                </a:lnTo>
                <a:lnTo>
                  <a:pt x="1091809" y="1091809"/>
                </a:lnTo>
                <a:lnTo>
                  <a:pt x="0" y="1091809"/>
                </a:lnTo>
                <a:lnTo>
                  <a:pt x="0" y="0"/>
                </a:lnTo>
                <a:close/>
              </a:path>
            </a:pathLst>
          </a:custGeom>
          <a:blipFill>
            <a:blip r:embed="rId4"/>
            <a:stretch>
              <a:fillRect/>
            </a:stretch>
          </a:blipFill>
        </p:spPr>
        <p:txBody>
          <a:bodyPr/>
          <a:lstStyle/>
          <a:p>
            <a:endParaRPr lang="en-IN"/>
          </a:p>
        </p:txBody>
      </p:sp>
      <p:sp>
        <p:nvSpPr>
          <p:cNvPr id="20" name="Freeform 20"/>
          <p:cNvSpPr/>
          <p:nvPr/>
        </p:nvSpPr>
        <p:spPr>
          <a:xfrm>
            <a:off x="11065738" y="4600293"/>
            <a:ext cx="1086414" cy="1086414"/>
          </a:xfrm>
          <a:custGeom>
            <a:avLst/>
            <a:gdLst/>
            <a:ahLst/>
            <a:cxnLst/>
            <a:rect l="l" t="t" r="r" b="b"/>
            <a:pathLst>
              <a:path w="1086414" h="1086414">
                <a:moveTo>
                  <a:pt x="0" y="0"/>
                </a:moveTo>
                <a:lnTo>
                  <a:pt x="1086413" y="0"/>
                </a:lnTo>
                <a:lnTo>
                  <a:pt x="1086413" y="1086414"/>
                </a:lnTo>
                <a:lnTo>
                  <a:pt x="0" y="1086414"/>
                </a:lnTo>
                <a:lnTo>
                  <a:pt x="0" y="0"/>
                </a:lnTo>
                <a:close/>
              </a:path>
            </a:pathLst>
          </a:custGeom>
          <a:blipFill>
            <a:blip r:embed="rId5"/>
            <a:stretch>
              <a:fillRect/>
            </a:stretch>
          </a:blipFill>
        </p:spPr>
        <p:txBody>
          <a:bodyPr/>
          <a:lstStyle/>
          <a:p>
            <a:endParaRPr lang="en-IN"/>
          </a:p>
        </p:txBody>
      </p:sp>
      <p:sp>
        <p:nvSpPr>
          <p:cNvPr id="21" name="TextBox 21"/>
          <p:cNvSpPr txBox="1"/>
          <p:nvPr/>
        </p:nvSpPr>
        <p:spPr>
          <a:xfrm>
            <a:off x="11908043" y="3132674"/>
            <a:ext cx="5948702" cy="2571895"/>
          </a:xfrm>
          <a:prstGeom prst="rect">
            <a:avLst/>
          </a:prstGeom>
        </p:spPr>
        <p:txBody>
          <a:bodyPr lIns="0" tIns="0" rIns="0" bIns="0" rtlCol="0" anchor="t">
            <a:spAutoFit/>
          </a:bodyPr>
          <a:lstStyle/>
          <a:p>
            <a:pPr algn="r">
              <a:lnSpc>
                <a:spcPts val="6880"/>
              </a:lnSpc>
            </a:pPr>
            <a:r>
              <a:rPr lang="en-US" sz="4914">
                <a:solidFill>
                  <a:srgbClr val="FFFFFF"/>
                </a:solidFill>
                <a:latin typeface="Roboto"/>
                <a:ea typeface="Roboto"/>
                <a:cs typeface="Roboto"/>
                <a:sym typeface="Roboto"/>
              </a:rPr>
              <a:t>HARDWARE</a:t>
            </a:r>
          </a:p>
          <a:p>
            <a:pPr algn="r">
              <a:lnSpc>
                <a:spcPts val="6880"/>
              </a:lnSpc>
            </a:pPr>
            <a:r>
              <a:rPr lang="en-US" sz="4914">
                <a:solidFill>
                  <a:srgbClr val="FFFFFF"/>
                </a:solidFill>
                <a:latin typeface="Roboto"/>
                <a:ea typeface="Roboto"/>
                <a:cs typeface="Roboto"/>
                <a:sym typeface="Roboto"/>
              </a:rPr>
              <a:t>&amp;</a:t>
            </a:r>
          </a:p>
          <a:p>
            <a:pPr algn="r">
              <a:lnSpc>
                <a:spcPts val="6880"/>
              </a:lnSpc>
            </a:pPr>
            <a:r>
              <a:rPr lang="en-US" sz="4914">
                <a:solidFill>
                  <a:srgbClr val="FFFFFF"/>
                </a:solidFill>
                <a:latin typeface="Roboto"/>
                <a:ea typeface="Roboto"/>
                <a:cs typeface="Roboto"/>
                <a:sym typeface="Roboto"/>
              </a:rPr>
              <a:t>SOFTWARE</a:t>
            </a:r>
          </a:p>
        </p:txBody>
      </p:sp>
      <p:sp>
        <p:nvSpPr>
          <p:cNvPr id="22" name="TextBox 22"/>
          <p:cNvSpPr txBox="1"/>
          <p:nvPr/>
        </p:nvSpPr>
        <p:spPr>
          <a:xfrm>
            <a:off x="12869350" y="5992832"/>
            <a:ext cx="5022744" cy="794805"/>
          </a:xfrm>
          <a:prstGeom prst="rect">
            <a:avLst/>
          </a:prstGeom>
        </p:spPr>
        <p:txBody>
          <a:bodyPr lIns="0" tIns="0" rIns="0" bIns="0" rtlCol="0" anchor="t">
            <a:spAutoFit/>
          </a:bodyPr>
          <a:lstStyle/>
          <a:p>
            <a:pPr algn="r">
              <a:lnSpc>
                <a:spcPts val="6591"/>
              </a:lnSpc>
            </a:pPr>
            <a:r>
              <a:rPr lang="en-US" sz="4708" b="1">
                <a:solidFill>
                  <a:srgbClr val="FFFFFF"/>
                </a:solidFill>
                <a:latin typeface="League Spartan"/>
                <a:ea typeface="League Spartan"/>
                <a:cs typeface="League Spartan"/>
                <a:sym typeface="League Spartan"/>
              </a:rPr>
              <a:t>REQUIREMENTS</a:t>
            </a:r>
          </a:p>
        </p:txBody>
      </p:sp>
      <p:sp>
        <p:nvSpPr>
          <p:cNvPr id="23" name="TextBox 23"/>
          <p:cNvSpPr txBox="1"/>
          <p:nvPr/>
        </p:nvSpPr>
        <p:spPr>
          <a:xfrm>
            <a:off x="1969805" y="640513"/>
            <a:ext cx="7332363" cy="3695971"/>
          </a:xfrm>
          <a:prstGeom prst="rect">
            <a:avLst/>
          </a:prstGeom>
        </p:spPr>
        <p:txBody>
          <a:bodyPr lIns="0" tIns="0" rIns="0" bIns="0" rtlCol="0" anchor="t">
            <a:spAutoFit/>
          </a:bodyPr>
          <a:lstStyle/>
          <a:p>
            <a:pPr algn="ctr">
              <a:lnSpc>
                <a:spcPts val="4789"/>
              </a:lnSpc>
            </a:pPr>
            <a:r>
              <a:rPr lang="en-US" sz="3420" b="1">
                <a:solidFill>
                  <a:srgbClr val="000000"/>
                </a:solidFill>
                <a:latin typeface="Poppins Bold"/>
                <a:ea typeface="Poppins Bold"/>
                <a:cs typeface="Poppins Bold"/>
                <a:sym typeface="Poppins Bold"/>
              </a:rPr>
              <a:t>Hardware Requirements</a:t>
            </a:r>
          </a:p>
          <a:p>
            <a:pPr algn="r">
              <a:lnSpc>
                <a:spcPts val="4141"/>
              </a:lnSpc>
            </a:pPr>
            <a:r>
              <a:rPr lang="en-US" sz="2957">
                <a:solidFill>
                  <a:srgbClr val="000000"/>
                </a:solidFill>
                <a:latin typeface="Poppins"/>
                <a:ea typeface="Poppins"/>
                <a:cs typeface="Poppins"/>
                <a:sym typeface="Poppins"/>
              </a:rPr>
              <a:t>  </a:t>
            </a:r>
          </a:p>
          <a:p>
            <a:pPr marL="638611" lvl="1" indent="-319306" algn="l">
              <a:lnSpc>
                <a:spcPts val="4141"/>
              </a:lnSpc>
              <a:buFont typeface="Arial"/>
              <a:buChar char="•"/>
            </a:pPr>
            <a:r>
              <a:rPr lang="en-US" sz="2957">
                <a:solidFill>
                  <a:srgbClr val="000000"/>
                </a:solidFill>
                <a:latin typeface="Poppins"/>
                <a:ea typeface="Poppins"/>
                <a:cs typeface="Poppins"/>
                <a:sym typeface="Poppins"/>
              </a:rPr>
              <a:t>Processor : Intel Core i3 or above</a:t>
            </a:r>
          </a:p>
          <a:p>
            <a:pPr marL="638611" lvl="1" indent="-319306" algn="l">
              <a:lnSpc>
                <a:spcPts val="4141"/>
              </a:lnSpc>
              <a:buFont typeface="Arial"/>
              <a:buChar char="•"/>
            </a:pPr>
            <a:r>
              <a:rPr lang="en-US" sz="2957">
                <a:solidFill>
                  <a:srgbClr val="000000"/>
                </a:solidFill>
                <a:latin typeface="Poppins"/>
                <a:ea typeface="Poppins"/>
                <a:cs typeface="Poppins"/>
                <a:sym typeface="Poppins"/>
              </a:rPr>
              <a:t> RAM : 4 GB or above</a:t>
            </a:r>
          </a:p>
          <a:p>
            <a:pPr marL="638611" lvl="1" indent="-319306" algn="l">
              <a:lnSpc>
                <a:spcPts val="4141"/>
              </a:lnSpc>
              <a:buFont typeface="Arial"/>
              <a:buChar char="•"/>
            </a:pPr>
            <a:r>
              <a:rPr lang="en-US" sz="2957">
                <a:solidFill>
                  <a:srgbClr val="000000"/>
                </a:solidFill>
                <a:latin typeface="Poppins"/>
                <a:ea typeface="Poppins"/>
                <a:cs typeface="Poppins"/>
                <a:sym typeface="Poppins"/>
              </a:rPr>
              <a:t> Storage : 100 MB free space</a:t>
            </a:r>
          </a:p>
          <a:p>
            <a:pPr marL="638611" lvl="1" indent="-319306" algn="l">
              <a:lnSpc>
                <a:spcPts val="4141"/>
              </a:lnSpc>
              <a:buFont typeface="Arial"/>
              <a:buChar char="•"/>
            </a:pPr>
            <a:r>
              <a:rPr lang="en-US" sz="2957">
                <a:solidFill>
                  <a:srgbClr val="000000"/>
                </a:solidFill>
                <a:latin typeface="Poppins"/>
                <a:ea typeface="Poppins"/>
                <a:cs typeface="Poppins"/>
                <a:sym typeface="Poppins"/>
              </a:rPr>
              <a:t> Keyboard &amp; Mouse</a:t>
            </a:r>
          </a:p>
          <a:p>
            <a:pPr marL="552253" lvl="1" indent="-276127" algn="l">
              <a:lnSpc>
                <a:spcPts val="3581"/>
              </a:lnSpc>
              <a:buFont typeface="Arial"/>
              <a:buChar char="•"/>
            </a:pPr>
            <a:r>
              <a:rPr lang="en-US" sz="2557">
                <a:solidFill>
                  <a:srgbClr val="000000"/>
                </a:solidFill>
                <a:latin typeface="Poppins"/>
                <a:ea typeface="Poppins"/>
                <a:cs typeface="Poppins"/>
                <a:sym typeface="Poppins"/>
              </a:rPr>
              <a:t> Monitor</a:t>
            </a:r>
          </a:p>
        </p:txBody>
      </p:sp>
      <p:sp>
        <p:nvSpPr>
          <p:cNvPr id="24" name="TextBox 24"/>
          <p:cNvSpPr txBox="1"/>
          <p:nvPr/>
        </p:nvSpPr>
        <p:spPr>
          <a:xfrm>
            <a:off x="1969805" y="4581210"/>
            <a:ext cx="7897975" cy="4568136"/>
          </a:xfrm>
          <a:prstGeom prst="rect">
            <a:avLst/>
          </a:prstGeom>
        </p:spPr>
        <p:txBody>
          <a:bodyPr lIns="0" tIns="0" rIns="0" bIns="0" rtlCol="0" anchor="t">
            <a:spAutoFit/>
          </a:bodyPr>
          <a:lstStyle/>
          <a:p>
            <a:pPr algn="r">
              <a:lnSpc>
                <a:spcPts val="3607"/>
              </a:lnSpc>
              <a:spcBef>
                <a:spcPct val="0"/>
              </a:spcBef>
            </a:pPr>
            <a:endParaRPr/>
          </a:p>
          <a:p>
            <a:pPr algn="ctr">
              <a:lnSpc>
                <a:spcPts val="4148"/>
              </a:lnSpc>
            </a:pPr>
            <a:r>
              <a:rPr lang="en-US" sz="3428" b="1">
                <a:solidFill>
                  <a:srgbClr val="000000"/>
                </a:solidFill>
                <a:latin typeface="Poppins Bold"/>
                <a:ea typeface="Poppins Bold"/>
                <a:cs typeface="Poppins Bold"/>
                <a:sym typeface="Poppins Bold"/>
              </a:rPr>
              <a:t>Software Requirements</a:t>
            </a:r>
          </a:p>
          <a:p>
            <a:pPr algn="ctr">
              <a:lnSpc>
                <a:spcPts val="4148"/>
              </a:lnSpc>
            </a:pPr>
            <a:endParaRPr lang="en-US" sz="3428" b="1">
              <a:solidFill>
                <a:srgbClr val="000000"/>
              </a:solidFill>
              <a:latin typeface="Poppins Bold"/>
              <a:ea typeface="Poppins Bold"/>
              <a:cs typeface="Poppins Bold"/>
              <a:sym typeface="Poppins Bold"/>
            </a:endParaRPr>
          </a:p>
          <a:p>
            <a:pPr marL="639065" lvl="1" indent="-319532" algn="l">
              <a:lnSpc>
                <a:spcPts val="3581"/>
              </a:lnSpc>
              <a:buFont typeface="Arial"/>
              <a:buChar char="•"/>
            </a:pPr>
            <a:r>
              <a:rPr lang="en-US" sz="2960">
                <a:solidFill>
                  <a:srgbClr val="000000"/>
                </a:solidFill>
                <a:latin typeface="Poppins"/>
                <a:ea typeface="Poppins"/>
                <a:cs typeface="Poppins"/>
                <a:sym typeface="Poppins"/>
              </a:rPr>
              <a:t>Operating System : Windows 10/11</a:t>
            </a:r>
          </a:p>
          <a:p>
            <a:pPr marL="639065" lvl="1" indent="-319532" algn="l">
              <a:lnSpc>
                <a:spcPts val="4144"/>
              </a:lnSpc>
              <a:buFont typeface="Arial"/>
              <a:buChar char="•"/>
            </a:pPr>
            <a:r>
              <a:rPr lang="en-US" sz="2960">
                <a:solidFill>
                  <a:srgbClr val="000000"/>
                </a:solidFill>
                <a:latin typeface="Poppins"/>
                <a:ea typeface="Poppins"/>
                <a:cs typeface="Poppins"/>
                <a:sym typeface="Poppins"/>
              </a:rPr>
              <a:t> Frontend : HTML, CSS, JavaScript</a:t>
            </a:r>
          </a:p>
          <a:p>
            <a:pPr marL="639065" lvl="1" indent="-319532" algn="l">
              <a:lnSpc>
                <a:spcPts val="4144"/>
              </a:lnSpc>
              <a:buFont typeface="Arial"/>
              <a:buChar char="•"/>
            </a:pPr>
            <a:r>
              <a:rPr lang="en-US" sz="2960">
                <a:solidFill>
                  <a:srgbClr val="000000"/>
                </a:solidFill>
                <a:latin typeface="Poppins"/>
                <a:ea typeface="Poppins"/>
                <a:cs typeface="Poppins"/>
                <a:sym typeface="Poppins"/>
              </a:rPr>
              <a:t> Code Editor : Visual Studio Code</a:t>
            </a:r>
          </a:p>
          <a:p>
            <a:pPr marL="639065" lvl="1" indent="-319532" algn="l">
              <a:lnSpc>
                <a:spcPts val="4144"/>
              </a:lnSpc>
              <a:buFont typeface="Arial"/>
              <a:buChar char="•"/>
            </a:pPr>
            <a:r>
              <a:rPr lang="en-US" sz="2960">
                <a:solidFill>
                  <a:srgbClr val="000000"/>
                </a:solidFill>
                <a:latin typeface="Poppins"/>
                <a:ea typeface="Poppins"/>
                <a:cs typeface="Poppins"/>
                <a:sym typeface="Poppins"/>
              </a:rPr>
              <a:t> Browser : Google Chrome / Microsoft Edge</a:t>
            </a:r>
          </a:p>
          <a:p>
            <a:pPr marL="642760" lvl="1" indent="-321380" algn="l">
              <a:lnSpc>
                <a:spcPts val="4167"/>
              </a:lnSpc>
              <a:buFont typeface="Arial"/>
              <a:buChar char="•"/>
            </a:pPr>
            <a:r>
              <a:rPr lang="en-US" sz="2977">
                <a:solidFill>
                  <a:srgbClr val="000000"/>
                </a:solidFill>
                <a:latin typeface="Poppins"/>
                <a:ea typeface="Poppins"/>
                <a:cs typeface="Poppins"/>
                <a:sym typeface="Poppins"/>
              </a:rPr>
              <a:t> Storage : Local Storage (Browser))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257175" y="1539131"/>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en-IN"/>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200386" y="2009628"/>
            <a:ext cx="9719505" cy="960831"/>
          </a:xfrm>
          <a:prstGeom prst="rect">
            <a:avLst/>
          </a:prstGeom>
        </p:spPr>
        <p:txBody>
          <a:bodyPr lIns="0" tIns="0" rIns="0" bIns="0" rtlCol="0" anchor="t">
            <a:spAutoFit/>
          </a:bodyPr>
          <a:lstStyle/>
          <a:p>
            <a:pPr algn="ctr">
              <a:lnSpc>
                <a:spcPts val="7940"/>
              </a:lnSpc>
            </a:pPr>
            <a:r>
              <a:rPr lang="en-US" sz="5672" b="1">
                <a:solidFill>
                  <a:srgbClr val="FFFFFF"/>
                </a:solidFill>
                <a:latin typeface="League Spartan"/>
                <a:ea typeface="League Spartan"/>
                <a:cs typeface="League Spartan"/>
                <a:sym typeface="League Spartan"/>
              </a:rPr>
              <a:t>PROPOSED  SYSTEM</a:t>
            </a:r>
          </a:p>
        </p:txBody>
      </p:sp>
      <p:sp>
        <p:nvSpPr>
          <p:cNvPr id="7" name="TextBox 7"/>
          <p:cNvSpPr txBox="1"/>
          <p:nvPr/>
        </p:nvSpPr>
        <p:spPr>
          <a:xfrm>
            <a:off x="1028700" y="3735793"/>
            <a:ext cx="16358301" cy="5913210"/>
          </a:xfrm>
          <a:prstGeom prst="rect">
            <a:avLst/>
          </a:prstGeom>
        </p:spPr>
        <p:txBody>
          <a:bodyPr lIns="0" tIns="0" rIns="0" bIns="0" rtlCol="0" anchor="t">
            <a:spAutoFit/>
          </a:bodyPr>
          <a:lstStyle/>
          <a:p>
            <a:pPr marL="903193" lvl="1" indent="-451597" algn="l">
              <a:lnSpc>
                <a:spcPts val="5856"/>
              </a:lnSpc>
              <a:buFont typeface="Arial"/>
              <a:buChar char="•"/>
            </a:pPr>
            <a:r>
              <a:rPr lang="en-US" sz="4183">
                <a:solidFill>
                  <a:srgbClr val="303642"/>
                </a:solidFill>
                <a:latin typeface="Poppins"/>
                <a:ea typeface="Poppins"/>
                <a:cs typeface="Poppins"/>
                <a:sym typeface="Poppins"/>
              </a:rPr>
              <a:t>Add and manage income and expenses easily.</a:t>
            </a:r>
          </a:p>
          <a:p>
            <a:pPr marL="903193" lvl="1" indent="-451597" algn="l">
              <a:lnSpc>
                <a:spcPts val="5856"/>
              </a:lnSpc>
              <a:buFont typeface="Arial"/>
              <a:buChar char="•"/>
            </a:pPr>
            <a:r>
              <a:rPr lang="en-US" sz="4183">
                <a:solidFill>
                  <a:srgbClr val="303642"/>
                </a:solidFill>
                <a:latin typeface="Poppins"/>
                <a:ea typeface="Poppins"/>
                <a:cs typeface="Poppins"/>
                <a:sym typeface="Poppins"/>
              </a:rPr>
              <a:t>Automatic balance calculation.</a:t>
            </a:r>
          </a:p>
          <a:p>
            <a:pPr marL="903193" lvl="1" indent="-451597" algn="l">
              <a:lnSpc>
                <a:spcPts val="5856"/>
              </a:lnSpc>
              <a:buFont typeface="Arial"/>
              <a:buChar char="•"/>
            </a:pPr>
            <a:r>
              <a:rPr lang="en-US" sz="4183">
                <a:solidFill>
                  <a:srgbClr val="303642"/>
                </a:solidFill>
                <a:latin typeface="Poppins"/>
                <a:ea typeface="Poppins"/>
                <a:cs typeface="Poppins"/>
                <a:sym typeface="Poppins"/>
              </a:rPr>
              <a:t>Smart reminders* for important expense tracking.</a:t>
            </a:r>
          </a:p>
          <a:p>
            <a:pPr marL="903193" lvl="1" indent="-451597" algn="l">
              <a:lnSpc>
                <a:spcPts val="5856"/>
              </a:lnSpc>
              <a:buFont typeface="Arial"/>
              <a:buChar char="•"/>
            </a:pPr>
            <a:r>
              <a:rPr lang="en-US" sz="4183">
                <a:solidFill>
                  <a:srgbClr val="303642"/>
                </a:solidFill>
                <a:latin typeface="Poppins"/>
                <a:ea typeface="Poppins"/>
                <a:cs typeface="Poppins"/>
                <a:sym typeface="Poppins"/>
              </a:rPr>
              <a:t>Low income/balance reminder* to alert users when funds are running low.</a:t>
            </a:r>
          </a:p>
          <a:p>
            <a:pPr marL="903193" lvl="1" indent="-451597" algn="l">
              <a:lnSpc>
                <a:spcPts val="5856"/>
              </a:lnSpc>
              <a:buFont typeface="Arial"/>
              <a:buChar char="•"/>
            </a:pPr>
            <a:r>
              <a:rPr lang="en-US" sz="4183">
                <a:solidFill>
                  <a:srgbClr val="303642"/>
                </a:solidFill>
                <a:latin typeface="Poppins"/>
                <a:ea typeface="Poppins"/>
                <a:cs typeface="Poppins"/>
                <a:sym typeface="Poppins"/>
              </a:rPr>
              <a:t>View reports and charts for better financial analysis.</a:t>
            </a:r>
          </a:p>
          <a:p>
            <a:pPr marL="903193" lvl="1" indent="-451597" algn="l">
              <a:lnSpc>
                <a:spcPts val="5856"/>
              </a:lnSpc>
              <a:buFont typeface="Arial"/>
              <a:buChar char="•"/>
            </a:pPr>
            <a:r>
              <a:rPr lang="en-US" sz="4183">
                <a:solidFill>
                  <a:srgbClr val="303642"/>
                </a:solidFill>
                <a:latin typeface="Poppins"/>
                <a:ea typeface="Poppins"/>
                <a:cs typeface="Poppins"/>
                <a:sym typeface="Poppins"/>
              </a:rPr>
              <a:t>Search, filter, PDF export, and dark mode support.</a:t>
            </a:r>
          </a:p>
          <a:p>
            <a:pPr marL="903193" lvl="1" indent="-451597" algn="l">
              <a:lnSpc>
                <a:spcPts val="5856"/>
              </a:lnSpc>
              <a:buFont typeface="Arial"/>
              <a:buChar char="•"/>
            </a:pPr>
            <a:r>
              <a:rPr lang="en-US" sz="4183">
                <a:solidFill>
                  <a:srgbClr val="303642"/>
                </a:solidFill>
                <a:latin typeface="Poppins"/>
                <a:ea typeface="Poppins"/>
                <a:cs typeface="Poppins"/>
                <a:sym typeface="Poppins"/>
              </a:rPr>
              <a:t>Data is securely stored using Local Storage.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257175" y="1539131"/>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en-IN"/>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200386" y="2009628"/>
            <a:ext cx="9719505" cy="960831"/>
          </a:xfrm>
          <a:prstGeom prst="rect">
            <a:avLst/>
          </a:prstGeom>
        </p:spPr>
        <p:txBody>
          <a:bodyPr lIns="0" tIns="0" rIns="0" bIns="0" rtlCol="0" anchor="t">
            <a:spAutoFit/>
          </a:bodyPr>
          <a:lstStyle/>
          <a:p>
            <a:pPr algn="ctr">
              <a:lnSpc>
                <a:spcPts val="7940"/>
              </a:lnSpc>
            </a:pPr>
            <a:r>
              <a:rPr lang="en-US" sz="5672" b="1">
                <a:solidFill>
                  <a:srgbClr val="FFFFFF"/>
                </a:solidFill>
                <a:latin typeface="League Spartan"/>
                <a:ea typeface="League Spartan"/>
                <a:cs typeface="League Spartan"/>
                <a:sym typeface="League Spartan"/>
              </a:rPr>
              <a:t>EXISTING SYSTEM</a:t>
            </a:r>
          </a:p>
        </p:txBody>
      </p:sp>
      <p:sp>
        <p:nvSpPr>
          <p:cNvPr id="7" name="TextBox 7"/>
          <p:cNvSpPr txBox="1"/>
          <p:nvPr/>
        </p:nvSpPr>
        <p:spPr>
          <a:xfrm>
            <a:off x="1028700" y="4024621"/>
            <a:ext cx="18161006" cy="4106226"/>
          </a:xfrm>
          <a:prstGeom prst="rect">
            <a:avLst/>
          </a:prstGeom>
        </p:spPr>
        <p:txBody>
          <a:bodyPr lIns="0" tIns="0" rIns="0" bIns="0" rtlCol="0" anchor="t">
            <a:spAutoFit/>
          </a:bodyPr>
          <a:lstStyle/>
          <a:p>
            <a:pPr marL="1002726" lvl="1" indent="-501363" algn="l">
              <a:lnSpc>
                <a:spcPts val="6502"/>
              </a:lnSpc>
              <a:buFont typeface="Arial"/>
              <a:buChar char="•"/>
            </a:pPr>
            <a:r>
              <a:rPr lang="en-US" sz="4644">
                <a:solidFill>
                  <a:srgbClr val="303642"/>
                </a:solidFill>
                <a:latin typeface="Poppins"/>
                <a:ea typeface="Poppins"/>
                <a:cs typeface="Poppins"/>
                <a:sym typeface="Poppins"/>
              </a:rPr>
              <a:t>Expenses are recorded manually.</a:t>
            </a:r>
          </a:p>
          <a:p>
            <a:pPr marL="1002726" lvl="1" indent="-501363" algn="l">
              <a:lnSpc>
                <a:spcPts val="6502"/>
              </a:lnSpc>
              <a:buFont typeface="Arial"/>
              <a:buChar char="•"/>
            </a:pPr>
            <a:r>
              <a:rPr lang="en-US" sz="4644">
                <a:solidFill>
                  <a:srgbClr val="303642"/>
                </a:solidFill>
                <a:latin typeface="Poppins"/>
                <a:ea typeface="Poppins"/>
                <a:cs typeface="Poppins"/>
                <a:sym typeface="Poppins"/>
              </a:rPr>
              <a:t>Difficult to track income and expenses</a:t>
            </a:r>
          </a:p>
          <a:p>
            <a:pPr marL="1002726" lvl="1" indent="-501363" algn="l">
              <a:lnSpc>
                <a:spcPts val="6502"/>
              </a:lnSpc>
              <a:buFont typeface="Arial"/>
              <a:buChar char="•"/>
            </a:pPr>
            <a:r>
              <a:rPr lang="en-US" sz="4644">
                <a:solidFill>
                  <a:srgbClr val="303642"/>
                </a:solidFill>
                <a:latin typeface="Poppins"/>
                <a:ea typeface="Poppins"/>
                <a:cs typeface="Poppins"/>
                <a:sym typeface="Poppins"/>
              </a:rPr>
              <a:t>No reminder for bill payments or low balance.</a:t>
            </a:r>
          </a:p>
          <a:p>
            <a:pPr marL="1002726" lvl="1" indent="-501363" algn="l">
              <a:lnSpc>
                <a:spcPts val="6502"/>
              </a:lnSpc>
              <a:buFont typeface="Arial"/>
              <a:buChar char="•"/>
            </a:pPr>
            <a:r>
              <a:rPr lang="en-US" sz="4644">
                <a:solidFill>
                  <a:srgbClr val="303642"/>
                </a:solidFill>
                <a:latin typeface="Poppins"/>
                <a:ea typeface="Poppins"/>
                <a:cs typeface="Poppins"/>
                <a:sym typeface="Poppins"/>
              </a:rPr>
              <a:t>Reports and analysis take more time when give large amount of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028700"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754467"/>
            <a:ext cx="4243380"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DIAGRAM</a:t>
            </a:r>
          </a:p>
        </p:txBody>
      </p:sp>
      <p:sp>
        <p:nvSpPr>
          <p:cNvPr id="7" name="TextBox 7"/>
          <p:cNvSpPr txBox="1"/>
          <p:nvPr/>
        </p:nvSpPr>
        <p:spPr>
          <a:xfrm>
            <a:off x="1028700" y="961389"/>
            <a:ext cx="4842085"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ARCHITECTURE</a:t>
            </a:r>
          </a:p>
        </p:txBody>
      </p:sp>
      <p:sp>
        <p:nvSpPr>
          <p:cNvPr id="8" name="TextBox 8"/>
          <p:cNvSpPr txBox="1"/>
          <p:nvPr/>
        </p:nvSpPr>
        <p:spPr>
          <a:xfrm>
            <a:off x="0" y="251434"/>
            <a:ext cx="20675301" cy="9312486"/>
          </a:xfrm>
          <a:prstGeom prst="rect">
            <a:avLst/>
          </a:prstGeom>
        </p:spPr>
        <p:txBody>
          <a:bodyPr lIns="0" tIns="0" rIns="0" bIns="0" rtlCol="0" anchor="t">
            <a:spAutoFit/>
          </a:bodyPr>
          <a:lstStyle/>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USER</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endParaRPr lang="en-US" sz="1835" dirty="0">
              <a:solidFill>
                <a:srgbClr val="000000"/>
              </a:solidFill>
              <a:latin typeface="Archivo Black"/>
              <a:ea typeface="Archivo Black"/>
              <a:cs typeface="Archivo Black"/>
              <a:sym typeface="Archivo Black"/>
            </a:endParaRP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                    LOGIN / REGISTER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endParaRPr lang="en-US" sz="1835" dirty="0">
              <a:solidFill>
                <a:srgbClr val="000000"/>
              </a:solidFill>
              <a:latin typeface="Archivo Black"/>
              <a:ea typeface="Archivo Black"/>
              <a:cs typeface="Archivo Black"/>
              <a:sym typeface="Archivo Black"/>
            </a:endParaRP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               EXPENSE TRACKER SYSTEM                  │</a:t>
            </a:r>
          </a:p>
          <a:p>
            <a:pPr algn="ctr">
              <a:lnSpc>
                <a:spcPts val="2569"/>
              </a:lnSpc>
            </a:pPr>
            <a:r>
              <a:rPr lang="en-US" sz="1835" dirty="0">
                <a:solidFill>
                  <a:srgbClr val="000000"/>
                </a:solidFill>
                <a:latin typeface="Archivo Black"/>
                <a:ea typeface="Archivo Black"/>
                <a:cs typeface="Archivo Black"/>
                <a:sym typeface="Archivo Black"/>
              </a:rPr>
              <a:t>        │                               • Income                                   │  </a:t>
            </a:r>
          </a:p>
          <a:p>
            <a:pPr algn="ctr">
              <a:lnSpc>
                <a:spcPts val="2569"/>
              </a:lnSpc>
            </a:pPr>
            <a:r>
              <a:rPr lang="en-US" sz="1835" dirty="0">
                <a:solidFill>
                  <a:srgbClr val="000000"/>
                </a:solidFill>
                <a:latin typeface="Archivo Black"/>
                <a:ea typeface="Archivo Black"/>
                <a:cs typeface="Archivo Black"/>
                <a:sym typeface="Archivo Black"/>
              </a:rPr>
              <a:t>        |                                 • Expense                                 |</a:t>
            </a:r>
          </a:p>
          <a:p>
            <a:pPr algn="ctr">
              <a:lnSpc>
                <a:spcPts val="2569"/>
              </a:lnSpc>
            </a:pPr>
            <a:r>
              <a:rPr lang="en-US" sz="1835" dirty="0">
                <a:solidFill>
                  <a:srgbClr val="000000"/>
                </a:solidFill>
                <a:latin typeface="Archivo Black"/>
                <a:ea typeface="Archivo Black"/>
                <a:cs typeface="Archivo Black"/>
                <a:sym typeface="Archivo Black"/>
              </a:rPr>
              <a:t>        │                      • Balance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endParaRPr lang="en-US" sz="1835" dirty="0">
              <a:solidFill>
                <a:srgbClr val="000000"/>
              </a:solidFill>
              <a:latin typeface="Archivo Black"/>
              <a:ea typeface="Archivo Black"/>
              <a:cs typeface="Archivo Black"/>
              <a:sym typeface="Archivo Black"/>
            </a:endParaRP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                   LOCAL STORAGE                   │</a:t>
            </a:r>
          </a:p>
          <a:p>
            <a:pPr algn="ctr">
              <a:lnSpc>
                <a:spcPts val="2569"/>
              </a:lnSpc>
            </a:pPr>
            <a:r>
              <a:rPr lang="en-US" sz="1835" dirty="0">
                <a:solidFill>
                  <a:srgbClr val="000000"/>
                </a:solidFill>
                <a:latin typeface="Archivo Black"/>
                <a:ea typeface="Archivo Black"/>
                <a:cs typeface="Archivo Black"/>
                <a:sym typeface="Archivo Black"/>
              </a:rPr>
              <a:t>        └──────────────────────┘</a:t>
            </a:r>
          </a:p>
          <a:p>
            <a:pPr algn="ctr">
              <a:lnSpc>
                <a:spcPts val="2569"/>
              </a:lnSpc>
            </a:pPr>
            <a:r>
              <a:rPr lang="en-US" sz="1835" dirty="0">
                <a:solidFill>
                  <a:srgbClr val="000000"/>
                </a:solidFill>
                <a:latin typeface="Archivo Black"/>
                <a:ea typeface="Archivo Black"/>
                <a:cs typeface="Archivo Black"/>
                <a:sym typeface="Archivo Black"/>
              </a:rPr>
              <a:t>          ╱        │         ╲</a:t>
            </a:r>
          </a:p>
          <a:p>
            <a:pPr algn="ctr">
              <a:lnSpc>
                <a:spcPts val="2569"/>
              </a:lnSpc>
            </a:pPr>
            <a:r>
              <a:rPr lang="en-US" sz="1835" dirty="0">
                <a:solidFill>
                  <a:srgbClr val="000000"/>
                </a:solidFill>
                <a:latin typeface="Archivo Black"/>
                <a:ea typeface="Archivo Black"/>
                <a:cs typeface="Archivo Black"/>
                <a:sym typeface="Archivo Black"/>
              </a:rPr>
              <a:t>         ▼         ▼          ▼</a:t>
            </a:r>
          </a:p>
          <a:p>
            <a:pPr algn="ctr">
              <a:lnSpc>
                <a:spcPts val="2569"/>
              </a:lnSpc>
            </a:pPr>
            <a:r>
              <a:rPr lang="en-US" sz="1835" dirty="0">
                <a:solidFill>
                  <a:srgbClr val="000000"/>
                </a:solidFill>
                <a:latin typeface="Archivo Black"/>
                <a:ea typeface="Archivo Black"/>
                <a:cs typeface="Archivo Black"/>
                <a:sym typeface="Archivo Black"/>
              </a:rPr>
              <a:t> ┌──────────┐ ┌──────────┐ ┌─────────┐ </a:t>
            </a:r>
          </a:p>
          <a:p>
            <a:pPr algn="ctr">
              <a:lnSpc>
                <a:spcPts val="2569"/>
              </a:lnSpc>
            </a:pPr>
            <a:r>
              <a:rPr lang="en-US" sz="1835" dirty="0">
                <a:solidFill>
                  <a:srgbClr val="000000"/>
                </a:solidFill>
                <a:latin typeface="Archivo Black"/>
                <a:ea typeface="Archivo Black"/>
                <a:cs typeface="Archivo Black"/>
                <a:sym typeface="Archivo Black"/>
              </a:rPr>
              <a:t>│ </a:t>
            </a:r>
            <a:r>
              <a:rPr lang="en-US" sz="1835">
                <a:solidFill>
                  <a:srgbClr val="000000"/>
                </a:solidFill>
                <a:latin typeface="Archivo Black"/>
                <a:ea typeface="Archivo Black"/>
                <a:cs typeface="Archivo Black"/>
                <a:sym typeface="Archivo Black"/>
              </a:rPr>
              <a:t>Dashboard            |   </a:t>
            </a:r>
            <a:r>
              <a:rPr lang="en-US" sz="1835" dirty="0">
                <a:solidFill>
                  <a:srgbClr val="000000"/>
                </a:solidFill>
                <a:latin typeface="Archivo Black"/>
                <a:ea typeface="Archivo Black"/>
                <a:cs typeface="Archivo Black"/>
                <a:sym typeface="Archivo Black"/>
              </a:rPr>
              <a:t>|    Reports               </a:t>
            </a:r>
            <a:r>
              <a:rPr lang="en-US" sz="1835">
                <a:solidFill>
                  <a:srgbClr val="000000"/>
                </a:solidFill>
                <a:latin typeface="Archivo Black"/>
                <a:ea typeface="Archivo Black"/>
                <a:cs typeface="Archivo Black"/>
                <a:sym typeface="Archivo Black"/>
              </a:rPr>
              <a:t>|   │     Reminder        </a:t>
            </a:r>
            <a:r>
              <a:rPr lang="en-US" sz="1835" dirty="0">
                <a:solidFill>
                  <a:srgbClr val="000000"/>
                </a:solidFill>
                <a:latin typeface="Archivo Black"/>
                <a:ea typeface="Archivo Black"/>
                <a:cs typeface="Archivo Black"/>
                <a:sym typeface="Archivo Black"/>
              </a:rPr>
              <a:t>|   </a:t>
            </a:r>
          </a:p>
          <a:p>
            <a:pPr algn="ctr">
              <a:lnSpc>
                <a:spcPts val="2569"/>
              </a:lnSpc>
              <a:spcBef>
                <a:spcPct val="0"/>
              </a:spcBef>
            </a:pPr>
            <a:r>
              <a:rPr lang="en-US" sz="1835" dirty="0">
                <a:solidFill>
                  <a:srgbClr val="000000"/>
                </a:solidFill>
                <a:latin typeface="Archivo Black"/>
                <a:ea typeface="Archivo Black"/>
                <a:cs typeface="Archivo Black"/>
                <a:sym typeface="Archivo Black"/>
              </a:rPr>
              <a:t> └──────────┘ └──────────┘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1982450"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a:grpSpLocks noChangeAspect="1"/>
          </p:cNvGrpSpPr>
          <p:nvPr/>
        </p:nvGrpSpPr>
        <p:grpSpPr>
          <a:xfrm>
            <a:off x="5222299" y="1522092"/>
            <a:ext cx="5013951" cy="6737985"/>
            <a:chOff x="0" y="0"/>
            <a:chExt cx="3663950" cy="4923790"/>
          </a:xfrm>
        </p:grpSpPr>
        <p:sp>
          <p:nvSpPr>
            <p:cNvPr id="7" name="Freeform 7"/>
            <p:cNvSpPr/>
            <p:nvPr/>
          </p:nvSpPr>
          <p:spPr>
            <a:xfrm rot="6000">
              <a:off x="28139" y="29241"/>
              <a:ext cx="3607672" cy="4864041"/>
            </a:xfrm>
            <a:custGeom>
              <a:avLst/>
              <a:gdLst/>
              <a:ahLst/>
              <a:cxnLst/>
              <a:rect l="l" t="t" r="r" b="b"/>
              <a:pathLst>
                <a:path w="3607672" h="4864041">
                  <a:moveTo>
                    <a:pt x="3607671" y="4498974"/>
                  </a:moveTo>
                  <a:cubicBezTo>
                    <a:pt x="3608019" y="4698364"/>
                    <a:pt x="3447009" y="4858665"/>
                    <a:pt x="3248889" y="4859010"/>
                  </a:cubicBezTo>
                  <a:lnTo>
                    <a:pt x="367263" y="4864040"/>
                  </a:lnTo>
                  <a:cubicBezTo>
                    <a:pt x="167874" y="4864388"/>
                    <a:pt x="7573" y="4703377"/>
                    <a:pt x="7227" y="4505258"/>
                  </a:cubicBezTo>
                  <a:lnTo>
                    <a:pt x="1" y="365064"/>
                  </a:lnTo>
                  <a:cubicBezTo>
                    <a:pt x="-347" y="165674"/>
                    <a:pt x="160663" y="5373"/>
                    <a:pt x="358783" y="5027"/>
                  </a:cubicBezTo>
                  <a:lnTo>
                    <a:pt x="3239139" y="0"/>
                  </a:lnTo>
                  <a:cubicBezTo>
                    <a:pt x="3438528" y="-348"/>
                    <a:pt x="3598829" y="160663"/>
                    <a:pt x="3599175" y="358782"/>
                  </a:cubicBezTo>
                  <a:lnTo>
                    <a:pt x="3607671" y="4498974"/>
                  </a:lnTo>
                  <a:close/>
                </a:path>
              </a:pathLst>
            </a:custGeom>
            <a:blipFill>
              <a:blip r:embed="rId3"/>
              <a:stretch>
                <a:fillRect l="-21054" t="-17386" r="-13716" b="-14943"/>
              </a:stretch>
            </a:blipFill>
          </p:spPr>
          <p:txBody>
            <a:bodyPr/>
            <a:lstStyle/>
            <a:p>
              <a:endParaRPr lang="en-IN"/>
            </a:p>
          </p:txBody>
        </p:sp>
        <p:sp>
          <p:nvSpPr>
            <p:cNvPr id="8" name="Freeform 8"/>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grpSp>
        <p:nvGrpSpPr>
          <p:cNvPr id="9" name="Group 9"/>
          <p:cNvGrpSpPr>
            <a:grpSpLocks noChangeAspect="1"/>
          </p:cNvGrpSpPr>
          <p:nvPr/>
        </p:nvGrpSpPr>
        <p:grpSpPr>
          <a:xfrm>
            <a:off x="321941" y="719062"/>
            <a:ext cx="4283925" cy="4424438"/>
            <a:chOff x="0" y="0"/>
            <a:chExt cx="6350000" cy="6558280"/>
          </a:xfrm>
        </p:grpSpPr>
        <p:sp>
          <p:nvSpPr>
            <p:cNvPr id="10" name="Freeform 10"/>
            <p:cNvSpPr/>
            <p:nvPr/>
          </p:nvSpPr>
          <p:spPr>
            <a:xfrm rot="-24000">
              <a:off x="59987" y="60716"/>
              <a:ext cx="6230027" cy="6436848"/>
            </a:xfrm>
            <a:custGeom>
              <a:avLst/>
              <a:gdLst/>
              <a:ahLst/>
              <a:cxnLst/>
              <a:rect l="l" t="t" r="r" b="b"/>
              <a:pathLst>
                <a:path w="6230027" h="6436848">
                  <a:moveTo>
                    <a:pt x="6200015" y="5387584"/>
                  </a:moveTo>
                  <a:cubicBezTo>
                    <a:pt x="6195936" y="5971770"/>
                    <a:pt x="5718940" y="6440891"/>
                    <a:pt x="5136024" y="6436822"/>
                  </a:cubicBezTo>
                  <a:lnTo>
                    <a:pt x="1049263" y="6408290"/>
                  </a:lnTo>
                  <a:cubicBezTo>
                    <a:pt x="465078" y="6404212"/>
                    <a:pt x="-4044" y="5927215"/>
                    <a:pt x="26" y="5344299"/>
                  </a:cubicBezTo>
                  <a:lnTo>
                    <a:pt x="30011" y="1049264"/>
                  </a:lnTo>
                  <a:cubicBezTo>
                    <a:pt x="34090" y="465078"/>
                    <a:pt x="511086" y="-4043"/>
                    <a:pt x="1094002" y="26"/>
                  </a:cubicBezTo>
                  <a:lnTo>
                    <a:pt x="5180763" y="28558"/>
                  </a:lnTo>
                  <a:cubicBezTo>
                    <a:pt x="5764948" y="32636"/>
                    <a:pt x="6234069" y="509633"/>
                    <a:pt x="6230000" y="1092549"/>
                  </a:cubicBezTo>
                  <a:lnTo>
                    <a:pt x="6200014" y="5387584"/>
                  </a:lnTo>
                  <a:close/>
                </a:path>
              </a:pathLst>
            </a:custGeom>
            <a:blipFill>
              <a:blip r:embed="rId4"/>
              <a:stretch>
                <a:fillRect t="-2104" r="-34986" b="-70068"/>
              </a:stretch>
            </a:blipFill>
          </p:spPr>
          <p:txBody>
            <a:bodyPr/>
            <a:lstStyle/>
            <a:p>
              <a:endParaRPr lang="en-IN"/>
            </a:p>
          </p:txBody>
        </p:sp>
        <p:sp>
          <p:nvSpPr>
            <p:cNvPr id="11" name="Freeform 11"/>
            <p:cNvSpPr/>
            <p:nvPr/>
          </p:nvSpPr>
          <p:spPr>
            <a:xfrm>
              <a:off x="0" y="0"/>
              <a:ext cx="6350000" cy="6558280"/>
            </a:xfrm>
            <a:custGeom>
              <a:avLst/>
              <a:gdLst/>
              <a:ahLst/>
              <a:cxnLst/>
              <a:rect l="l" t="t" r="r" b="b"/>
              <a:pathLst>
                <a:path w="6350000" h="655828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004AAD"/>
            </a:solidFill>
          </p:spPr>
          <p:txBody>
            <a:bodyPr/>
            <a:lstStyle/>
            <a:p>
              <a:endParaRPr lang="en-IN"/>
            </a:p>
          </p:txBody>
        </p:sp>
      </p:grpSp>
      <p:grpSp>
        <p:nvGrpSpPr>
          <p:cNvPr id="12" name="Group 12"/>
          <p:cNvGrpSpPr>
            <a:grpSpLocks noChangeAspect="1"/>
          </p:cNvGrpSpPr>
          <p:nvPr/>
        </p:nvGrpSpPr>
        <p:grpSpPr>
          <a:xfrm>
            <a:off x="335911" y="5722229"/>
            <a:ext cx="4255986" cy="4395582"/>
            <a:chOff x="0" y="0"/>
            <a:chExt cx="6350000" cy="6558280"/>
          </a:xfrm>
        </p:grpSpPr>
        <p:sp>
          <p:nvSpPr>
            <p:cNvPr id="13" name="Freeform 13"/>
            <p:cNvSpPr/>
            <p:nvPr/>
          </p:nvSpPr>
          <p:spPr>
            <a:xfrm rot="24000">
              <a:off x="59986" y="60716"/>
              <a:ext cx="6230027" cy="6436848"/>
            </a:xfrm>
            <a:custGeom>
              <a:avLst/>
              <a:gdLst/>
              <a:ahLst/>
              <a:cxnLst/>
              <a:rect l="l" t="t" r="r" b="b"/>
              <a:pathLst>
                <a:path w="6230027" h="6436848">
                  <a:moveTo>
                    <a:pt x="6230001" y="5344299"/>
                  </a:moveTo>
                  <a:cubicBezTo>
                    <a:pt x="6234080" y="5928485"/>
                    <a:pt x="5763680" y="6404221"/>
                    <a:pt x="5180764" y="6408290"/>
                  </a:cubicBezTo>
                  <a:lnTo>
                    <a:pt x="1094003" y="6436822"/>
                  </a:lnTo>
                  <a:cubicBezTo>
                    <a:pt x="509817" y="6440900"/>
                    <a:pt x="34082" y="5970500"/>
                    <a:pt x="30012" y="5387584"/>
                  </a:cubicBezTo>
                  <a:lnTo>
                    <a:pt x="27" y="1092549"/>
                  </a:lnTo>
                  <a:cubicBezTo>
                    <a:pt x="-4052" y="508363"/>
                    <a:pt x="466349" y="32627"/>
                    <a:pt x="1049264" y="28558"/>
                  </a:cubicBezTo>
                  <a:lnTo>
                    <a:pt x="5136025" y="26"/>
                  </a:lnTo>
                  <a:cubicBezTo>
                    <a:pt x="5720210" y="-4052"/>
                    <a:pt x="6195946" y="466348"/>
                    <a:pt x="6200015" y="1049264"/>
                  </a:cubicBezTo>
                  <a:lnTo>
                    <a:pt x="6230001" y="5344300"/>
                  </a:lnTo>
                  <a:close/>
                </a:path>
              </a:pathLst>
            </a:custGeom>
            <a:blipFill>
              <a:blip r:embed="rId5"/>
              <a:stretch>
                <a:fillRect l="-32479" t="-59567" r="-33950" b="-59043"/>
              </a:stretch>
            </a:blipFill>
          </p:spPr>
          <p:txBody>
            <a:bodyPr/>
            <a:lstStyle/>
            <a:p>
              <a:endParaRPr lang="en-IN"/>
            </a:p>
          </p:txBody>
        </p:sp>
        <p:sp>
          <p:nvSpPr>
            <p:cNvPr id="14" name="Freeform 14"/>
            <p:cNvSpPr/>
            <p:nvPr/>
          </p:nvSpPr>
          <p:spPr>
            <a:xfrm>
              <a:off x="0" y="0"/>
              <a:ext cx="6350000" cy="6558280"/>
            </a:xfrm>
            <a:custGeom>
              <a:avLst/>
              <a:gdLst/>
              <a:ahLst/>
              <a:cxnLst/>
              <a:rect l="l" t="t" r="r" b="b"/>
              <a:pathLst>
                <a:path w="6350000" h="655828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004AAD"/>
            </a:solidFill>
          </p:spPr>
          <p:txBody>
            <a:bodyPr/>
            <a:lstStyle/>
            <a:p>
              <a:endParaRPr lang="en-IN"/>
            </a:p>
          </p:txBody>
        </p:sp>
      </p:grpSp>
      <p:sp>
        <p:nvSpPr>
          <p:cNvPr id="15" name="TextBox 15"/>
          <p:cNvSpPr txBox="1"/>
          <p:nvPr/>
        </p:nvSpPr>
        <p:spPr>
          <a:xfrm>
            <a:off x="10855374" y="2422436"/>
            <a:ext cx="6756300"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AUTHENTICATION</a:t>
            </a:r>
          </a:p>
        </p:txBody>
      </p:sp>
      <p:sp>
        <p:nvSpPr>
          <p:cNvPr id="16" name="TextBox 16"/>
          <p:cNvSpPr txBox="1"/>
          <p:nvPr/>
        </p:nvSpPr>
        <p:spPr>
          <a:xfrm>
            <a:off x="10818708" y="1407792"/>
            <a:ext cx="4842085"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 LOGIN &amp; </a:t>
            </a:r>
          </a:p>
        </p:txBody>
      </p:sp>
      <p:sp>
        <p:nvSpPr>
          <p:cNvPr id="17" name="TextBox 17"/>
          <p:cNvSpPr txBox="1"/>
          <p:nvPr/>
        </p:nvSpPr>
        <p:spPr>
          <a:xfrm>
            <a:off x="10236249" y="3984332"/>
            <a:ext cx="7924574" cy="3935689"/>
          </a:xfrm>
          <a:prstGeom prst="rect">
            <a:avLst/>
          </a:prstGeom>
        </p:spPr>
        <p:txBody>
          <a:bodyPr lIns="0" tIns="0" rIns="0" bIns="0" rtlCol="0" anchor="t">
            <a:spAutoFit/>
          </a:bodyPr>
          <a:lstStyle/>
          <a:p>
            <a:pPr marL="620938" lvl="1" indent="-310469" algn="just">
              <a:lnSpc>
                <a:spcPts val="5119"/>
              </a:lnSpc>
              <a:buFont typeface="Arial"/>
              <a:buChar char="•"/>
            </a:pPr>
            <a:r>
              <a:rPr lang="en-US" sz="2876">
                <a:solidFill>
                  <a:srgbClr val="000000"/>
                </a:solidFill>
                <a:latin typeface="Poppins"/>
                <a:ea typeface="Poppins"/>
                <a:cs typeface="Poppins"/>
                <a:sym typeface="Poppins"/>
              </a:rPr>
              <a:t>Secure user login with Gmail and password validation.</a:t>
            </a:r>
          </a:p>
          <a:p>
            <a:pPr marL="620938" lvl="1" indent="-310469" algn="just">
              <a:lnSpc>
                <a:spcPts val="5119"/>
              </a:lnSpc>
              <a:buFont typeface="Arial"/>
              <a:buChar char="•"/>
            </a:pPr>
            <a:r>
              <a:rPr lang="en-US" sz="2876">
                <a:solidFill>
                  <a:srgbClr val="000000"/>
                </a:solidFill>
                <a:latin typeface="Poppins"/>
                <a:ea typeface="Poppins"/>
                <a:cs typeface="Poppins"/>
                <a:sym typeface="Poppins"/>
              </a:rPr>
              <a:t>Displays successful login confirmation.</a:t>
            </a:r>
          </a:p>
          <a:p>
            <a:pPr marL="620938" lvl="1" indent="-310469" algn="just">
              <a:lnSpc>
                <a:spcPts val="5119"/>
              </a:lnSpc>
              <a:buFont typeface="Arial"/>
              <a:buChar char="•"/>
            </a:pPr>
            <a:r>
              <a:rPr lang="en-US" sz="2876">
                <a:solidFill>
                  <a:srgbClr val="000000"/>
                </a:solidFill>
                <a:latin typeface="Poppins"/>
                <a:ea typeface="Poppins"/>
                <a:cs typeface="Poppins"/>
                <a:sym typeface="Poppins"/>
              </a:rPr>
              <a:t>Provides easy navigation through the dashboard menu.</a:t>
            </a:r>
          </a:p>
          <a:p>
            <a:pPr algn="just">
              <a:lnSpc>
                <a:spcPts val="6082"/>
              </a:lnSpc>
            </a:pPr>
            <a:endParaRPr lang="en-US" sz="2876">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028700"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a:grpSpLocks noChangeAspect="1"/>
          </p:cNvGrpSpPr>
          <p:nvPr/>
        </p:nvGrpSpPr>
        <p:grpSpPr>
          <a:xfrm>
            <a:off x="9829632" y="448516"/>
            <a:ext cx="6987376" cy="9389968"/>
            <a:chOff x="0" y="0"/>
            <a:chExt cx="3663950" cy="4923790"/>
          </a:xfrm>
        </p:grpSpPr>
        <p:sp>
          <p:nvSpPr>
            <p:cNvPr id="7" name="Freeform 7"/>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t="-5157" b="-5157"/>
              </a:stretch>
            </a:blipFill>
          </p:spPr>
          <p:txBody>
            <a:bodyPr/>
            <a:lstStyle/>
            <a:p>
              <a:endParaRPr lang="en-IN"/>
            </a:p>
          </p:txBody>
        </p:sp>
        <p:sp>
          <p:nvSpPr>
            <p:cNvPr id="8" name="Freeform 8"/>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
        <p:nvSpPr>
          <p:cNvPr id="9" name="TextBox 9"/>
          <p:cNvSpPr txBox="1"/>
          <p:nvPr/>
        </p:nvSpPr>
        <p:spPr>
          <a:xfrm>
            <a:off x="1122258" y="1707478"/>
            <a:ext cx="5277676"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VIEW</a:t>
            </a:r>
          </a:p>
        </p:txBody>
      </p:sp>
      <p:sp>
        <p:nvSpPr>
          <p:cNvPr id="10" name="TextBox 10"/>
          <p:cNvSpPr txBox="1"/>
          <p:nvPr/>
        </p:nvSpPr>
        <p:spPr>
          <a:xfrm>
            <a:off x="1122258" y="914400"/>
            <a:ext cx="4842085"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DASHBOARD</a:t>
            </a:r>
          </a:p>
        </p:txBody>
      </p:sp>
      <p:sp>
        <p:nvSpPr>
          <p:cNvPr id="11" name="TextBox 11"/>
          <p:cNvSpPr txBox="1"/>
          <p:nvPr/>
        </p:nvSpPr>
        <p:spPr>
          <a:xfrm>
            <a:off x="1028700" y="3056191"/>
            <a:ext cx="7171002" cy="6202109"/>
          </a:xfrm>
          <a:prstGeom prst="rect">
            <a:avLst/>
          </a:prstGeom>
        </p:spPr>
        <p:txBody>
          <a:bodyPr lIns="0" tIns="0" rIns="0" bIns="0" rtlCol="0" anchor="t">
            <a:spAutoFit/>
          </a:bodyPr>
          <a:lstStyle/>
          <a:p>
            <a:pPr marL="846432" lvl="1" indent="-423216" algn="l">
              <a:lnSpc>
                <a:spcPts val="5488"/>
              </a:lnSpc>
              <a:buFont typeface="Arial"/>
              <a:buChar char="•"/>
            </a:pPr>
            <a:r>
              <a:rPr lang="en-US" sz="3920">
                <a:solidFill>
                  <a:srgbClr val="000000"/>
                </a:solidFill>
                <a:latin typeface="Poppins"/>
                <a:ea typeface="Poppins"/>
                <a:cs typeface="Poppins"/>
                <a:sym typeface="Poppins"/>
              </a:rPr>
              <a:t>Displays total income, total expenses, and current balance.</a:t>
            </a:r>
          </a:p>
          <a:p>
            <a:pPr marL="846432" lvl="1" indent="-423216" algn="l">
              <a:lnSpc>
                <a:spcPts val="5488"/>
              </a:lnSpc>
              <a:buFont typeface="Arial"/>
              <a:buChar char="•"/>
            </a:pPr>
            <a:r>
              <a:rPr lang="en-US" sz="3920">
                <a:solidFill>
                  <a:srgbClr val="000000"/>
                </a:solidFill>
                <a:latin typeface="Poppins"/>
                <a:ea typeface="Poppins"/>
                <a:cs typeface="Poppins"/>
                <a:sym typeface="Poppins"/>
              </a:rPr>
              <a:t>Allows users to add income and expenses.</a:t>
            </a:r>
          </a:p>
          <a:p>
            <a:pPr marL="846432" lvl="1" indent="-423216" algn="l">
              <a:lnSpc>
                <a:spcPts val="5488"/>
              </a:lnSpc>
              <a:buFont typeface="Arial"/>
              <a:buChar char="•"/>
            </a:pPr>
            <a:r>
              <a:rPr lang="en-US" sz="3920">
                <a:solidFill>
                  <a:srgbClr val="000000"/>
                </a:solidFill>
                <a:latin typeface="Poppins"/>
                <a:ea typeface="Poppins"/>
                <a:cs typeface="Poppins"/>
                <a:sym typeface="Poppins"/>
              </a:rPr>
              <a:t>Includes Smart Expense Reminder for better financial management.</a:t>
            </a:r>
          </a:p>
          <a:p>
            <a:pPr algn="l">
              <a:lnSpc>
                <a:spcPts val="5488"/>
              </a:lnSpc>
              <a:spcBef>
                <a:spcPct val="0"/>
              </a:spcBef>
            </a:pPr>
            <a:endParaRPr lang="en-US" sz="3920">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028700"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616133" y="807374"/>
            <a:ext cx="6294884" cy="8674100"/>
            <a:chOff x="0" y="0"/>
            <a:chExt cx="1657912" cy="2284537"/>
          </a:xfrm>
        </p:grpSpPr>
        <p:sp>
          <p:nvSpPr>
            <p:cNvPr id="7" name="Freeform 7"/>
            <p:cNvSpPr/>
            <p:nvPr/>
          </p:nvSpPr>
          <p:spPr>
            <a:xfrm>
              <a:off x="0" y="0"/>
              <a:ext cx="1657912" cy="2284537"/>
            </a:xfrm>
            <a:custGeom>
              <a:avLst/>
              <a:gdLst/>
              <a:ahLst/>
              <a:cxnLst/>
              <a:rect l="l" t="t" r="r" b="b"/>
              <a:pathLst>
                <a:path w="1657912" h="2284537">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p:spPr>
          <p:txBody>
            <a:bodyPr/>
            <a:lstStyle/>
            <a:p>
              <a:endParaRPr lang="en-IN"/>
            </a:p>
          </p:txBody>
        </p:sp>
        <p:sp>
          <p:nvSpPr>
            <p:cNvPr id="8" name="TextBox 8"/>
            <p:cNvSpPr txBox="1"/>
            <p:nvPr/>
          </p:nvSpPr>
          <p:spPr>
            <a:xfrm>
              <a:off x="0" y="-47625"/>
              <a:ext cx="1657912" cy="2332162"/>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10616133" y="340361"/>
            <a:ext cx="7401613" cy="9946639"/>
            <a:chOff x="0" y="0"/>
            <a:chExt cx="3663950" cy="4923790"/>
          </a:xfrm>
        </p:grpSpPr>
        <p:sp>
          <p:nvSpPr>
            <p:cNvPr id="10" name="Freeform 10"/>
            <p:cNvSpPr/>
            <p:nvPr/>
          </p:nvSpPr>
          <p:spPr>
            <a:xfrm rot="-24000">
              <a:off x="17333" y="21741"/>
              <a:ext cx="3628014" cy="4879037"/>
            </a:xfrm>
            <a:custGeom>
              <a:avLst/>
              <a:gdLst/>
              <a:ahLst/>
              <a:cxnLst/>
              <a:rect l="l" t="t" r="r" b="b"/>
              <a:pathLst>
                <a:path w="3628014" h="4879037">
                  <a:moveTo>
                    <a:pt x="3600371" y="4522136"/>
                  </a:moveTo>
                  <a:cubicBezTo>
                    <a:pt x="3598979" y="4721522"/>
                    <a:pt x="3436576" y="4880411"/>
                    <a:pt x="3238461" y="4879028"/>
                  </a:cubicBezTo>
                  <a:lnTo>
                    <a:pt x="356901" y="4858911"/>
                  </a:lnTo>
                  <a:cubicBezTo>
                    <a:pt x="157516" y="4857519"/>
                    <a:pt x="-1374" y="4695115"/>
                    <a:pt x="9" y="4497001"/>
                  </a:cubicBezTo>
                  <a:lnTo>
                    <a:pt x="28913" y="356901"/>
                  </a:lnTo>
                  <a:cubicBezTo>
                    <a:pt x="30305" y="157516"/>
                    <a:pt x="192708" y="-1374"/>
                    <a:pt x="390823" y="9"/>
                  </a:cubicBezTo>
                  <a:lnTo>
                    <a:pt x="3271113" y="20118"/>
                  </a:lnTo>
                  <a:cubicBezTo>
                    <a:pt x="3470498" y="21510"/>
                    <a:pt x="3629388" y="183913"/>
                    <a:pt x="3628005" y="382028"/>
                  </a:cubicBezTo>
                  <a:lnTo>
                    <a:pt x="3600371" y="4522136"/>
                  </a:lnTo>
                  <a:close/>
                </a:path>
              </a:pathLst>
            </a:custGeom>
            <a:blipFill>
              <a:blip r:embed="rId3"/>
              <a:stretch>
                <a:fillRect l="-293" b="-12185"/>
              </a:stretch>
            </a:blipFill>
          </p:spPr>
          <p:txBody>
            <a:bodyPr/>
            <a:lstStyle/>
            <a:p>
              <a:endParaRPr lang="en-IN"/>
            </a:p>
          </p:txBody>
        </p:sp>
        <p:sp>
          <p:nvSpPr>
            <p:cNvPr id="11" name="Freeform 11"/>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
        <p:nvSpPr>
          <p:cNvPr id="12" name="TextBox 12"/>
          <p:cNvSpPr txBox="1"/>
          <p:nvPr/>
        </p:nvSpPr>
        <p:spPr>
          <a:xfrm>
            <a:off x="1421610" y="2846059"/>
            <a:ext cx="5241664"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HISTORY</a:t>
            </a:r>
          </a:p>
        </p:txBody>
      </p:sp>
      <p:sp>
        <p:nvSpPr>
          <p:cNvPr id="13" name="TextBox 13"/>
          <p:cNvSpPr txBox="1"/>
          <p:nvPr/>
        </p:nvSpPr>
        <p:spPr>
          <a:xfrm>
            <a:off x="1421610" y="2052981"/>
            <a:ext cx="5634574"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EXPENSE</a:t>
            </a:r>
          </a:p>
        </p:txBody>
      </p:sp>
      <p:sp>
        <p:nvSpPr>
          <p:cNvPr id="14" name="TextBox 14"/>
          <p:cNvSpPr txBox="1"/>
          <p:nvPr/>
        </p:nvSpPr>
        <p:spPr>
          <a:xfrm>
            <a:off x="1318330" y="4301899"/>
            <a:ext cx="8768015" cy="4057612"/>
          </a:xfrm>
          <a:prstGeom prst="rect">
            <a:avLst/>
          </a:prstGeom>
        </p:spPr>
        <p:txBody>
          <a:bodyPr lIns="0" tIns="0" rIns="0" bIns="0" rtlCol="0" anchor="t">
            <a:spAutoFit/>
          </a:bodyPr>
          <a:lstStyle/>
          <a:p>
            <a:pPr marL="714250" lvl="1" indent="-357125" algn="l">
              <a:lnSpc>
                <a:spcPts val="4631"/>
              </a:lnSpc>
              <a:buFont typeface="Arial"/>
              <a:buChar char="•"/>
            </a:pPr>
            <a:r>
              <a:rPr lang="en-US" sz="3308">
                <a:solidFill>
                  <a:srgbClr val="000000"/>
                </a:solidFill>
                <a:latin typeface="Poppins"/>
                <a:ea typeface="Poppins"/>
                <a:cs typeface="Poppins"/>
                <a:sym typeface="Poppins"/>
              </a:rPr>
              <a:t>Displays all recorded expense transactions.</a:t>
            </a:r>
          </a:p>
          <a:p>
            <a:pPr marL="714250" lvl="1" indent="-357125" algn="l">
              <a:lnSpc>
                <a:spcPts val="4631"/>
              </a:lnSpc>
              <a:buFont typeface="Arial"/>
              <a:buChar char="•"/>
            </a:pPr>
            <a:r>
              <a:rPr lang="en-US" sz="3308">
                <a:solidFill>
                  <a:srgbClr val="000000"/>
                </a:solidFill>
                <a:latin typeface="Poppins"/>
                <a:ea typeface="Poppins"/>
                <a:cs typeface="Poppins"/>
                <a:sym typeface="Poppins"/>
              </a:rPr>
              <a:t>Supports search, filter, and expense tracking.</a:t>
            </a:r>
          </a:p>
          <a:p>
            <a:pPr marL="714250" lvl="1" indent="-357125" algn="l">
              <a:lnSpc>
                <a:spcPts val="4631"/>
              </a:lnSpc>
              <a:buFont typeface="Arial"/>
              <a:buChar char="•"/>
            </a:pPr>
            <a:r>
              <a:rPr lang="en-US" sz="3308">
                <a:solidFill>
                  <a:srgbClr val="000000"/>
                </a:solidFill>
                <a:latin typeface="Poppins"/>
                <a:ea typeface="Poppins"/>
                <a:cs typeface="Poppins"/>
                <a:sym typeface="Poppins"/>
              </a:rPr>
              <a:t>Allows PDF export and Excel report generation.</a:t>
            </a:r>
          </a:p>
          <a:p>
            <a:pPr algn="l">
              <a:lnSpc>
                <a:spcPts val="4631"/>
              </a:lnSpc>
              <a:spcBef>
                <a:spcPct val="0"/>
              </a:spcBef>
            </a:pPr>
            <a:endParaRPr lang="en-US" sz="3308">
              <a:solidFill>
                <a:srgbClr val="00000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1624726"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9818565" y="1957992"/>
            <a:ext cx="4243380"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 REPORTS</a:t>
            </a:r>
          </a:p>
        </p:txBody>
      </p:sp>
      <p:sp>
        <p:nvSpPr>
          <p:cNvPr id="7" name="TextBox 7"/>
          <p:cNvSpPr txBox="1"/>
          <p:nvPr/>
        </p:nvSpPr>
        <p:spPr>
          <a:xfrm>
            <a:off x="10026639" y="1164914"/>
            <a:ext cx="5634574"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EXPENSE </a:t>
            </a:r>
          </a:p>
        </p:txBody>
      </p:sp>
      <p:sp>
        <p:nvSpPr>
          <p:cNvPr id="8" name="TextBox 8"/>
          <p:cNvSpPr txBox="1"/>
          <p:nvPr/>
        </p:nvSpPr>
        <p:spPr>
          <a:xfrm>
            <a:off x="9550338" y="3461457"/>
            <a:ext cx="9177976" cy="4847961"/>
          </a:xfrm>
          <a:prstGeom prst="rect">
            <a:avLst/>
          </a:prstGeom>
        </p:spPr>
        <p:txBody>
          <a:bodyPr lIns="0" tIns="0" rIns="0" bIns="0" rtlCol="0" anchor="t">
            <a:spAutoFit/>
          </a:bodyPr>
          <a:lstStyle/>
          <a:p>
            <a:pPr marL="747646" lvl="1" indent="-373823" algn="l">
              <a:lnSpc>
                <a:spcPts val="4848"/>
              </a:lnSpc>
              <a:buFont typeface="Arial"/>
              <a:buChar char="•"/>
            </a:pPr>
            <a:r>
              <a:rPr lang="en-US" sz="3462">
                <a:solidFill>
                  <a:srgbClr val="000000"/>
                </a:solidFill>
                <a:latin typeface="Poppins"/>
                <a:ea typeface="Poppins"/>
                <a:cs typeface="Poppins"/>
                <a:sym typeface="Poppins"/>
              </a:rPr>
              <a:t>Shows financial summary with income, expenses, balance, and savings.</a:t>
            </a:r>
          </a:p>
          <a:p>
            <a:pPr marL="747646" lvl="1" indent="-373823" algn="l">
              <a:lnSpc>
                <a:spcPts val="4848"/>
              </a:lnSpc>
              <a:buFont typeface="Arial"/>
              <a:buChar char="•"/>
            </a:pPr>
            <a:r>
              <a:rPr lang="en-US" sz="3462">
                <a:solidFill>
                  <a:srgbClr val="000000"/>
                </a:solidFill>
                <a:latin typeface="Poppins"/>
                <a:ea typeface="Poppins"/>
                <a:cs typeface="Poppins"/>
                <a:sym typeface="Poppins"/>
              </a:rPr>
              <a:t>Displays category-wise expense analysis using a pie chart.</a:t>
            </a:r>
          </a:p>
          <a:p>
            <a:pPr marL="747646" lvl="1" indent="-373823" algn="l">
              <a:lnSpc>
                <a:spcPts val="4848"/>
              </a:lnSpc>
              <a:buFont typeface="Arial"/>
              <a:buChar char="•"/>
            </a:pPr>
            <a:r>
              <a:rPr lang="en-US" sz="3462">
                <a:solidFill>
                  <a:srgbClr val="000000"/>
                </a:solidFill>
                <a:latin typeface="Poppins"/>
                <a:ea typeface="Poppins"/>
                <a:cs typeface="Poppins"/>
                <a:sym typeface="Poppins"/>
              </a:rPr>
              <a:t>Helps users understand spending patterns.</a:t>
            </a:r>
          </a:p>
          <a:p>
            <a:pPr algn="l">
              <a:lnSpc>
                <a:spcPts val="4848"/>
              </a:lnSpc>
              <a:spcBef>
                <a:spcPct val="0"/>
              </a:spcBef>
            </a:pPr>
            <a:endParaRPr lang="en-US" sz="3462">
              <a:solidFill>
                <a:srgbClr val="000000"/>
              </a:solidFill>
              <a:latin typeface="Poppins"/>
              <a:ea typeface="Poppins"/>
              <a:cs typeface="Poppins"/>
              <a:sym typeface="Poppins"/>
            </a:endParaRPr>
          </a:p>
        </p:txBody>
      </p:sp>
      <p:grpSp>
        <p:nvGrpSpPr>
          <p:cNvPr id="9" name="Group 9"/>
          <p:cNvGrpSpPr/>
          <p:nvPr/>
        </p:nvGrpSpPr>
        <p:grpSpPr>
          <a:xfrm>
            <a:off x="806450" y="806450"/>
            <a:ext cx="6990015" cy="8674100"/>
            <a:chOff x="0" y="0"/>
            <a:chExt cx="1840992" cy="2284537"/>
          </a:xfrm>
        </p:grpSpPr>
        <p:sp>
          <p:nvSpPr>
            <p:cNvPr id="10" name="Freeform 10"/>
            <p:cNvSpPr/>
            <p:nvPr/>
          </p:nvSpPr>
          <p:spPr>
            <a:xfrm>
              <a:off x="0" y="0"/>
              <a:ext cx="1840992" cy="2284537"/>
            </a:xfrm>
            <a:custGeom>
              <a:avLst/>
              <a:gdLst/>
              <a:ahLst/>
              <a:cxnLst/>
              <a:rect l="l" t="t" r="r" b="b"/>
              <a:pathLst>
                <a:path w="1840992" h="2284537">
                  <a:moveTo>
                    <a:pt x="56486" y="0"/>
                  </a:moveTo>
                  <a:lnTo>
                    <a:pt x="1784506" y="0"/>
                  </a:lnTo>
                  <a:cubicBezTo>
                    <a:pt x="1799487" y="0"/>
                    <a:pt x="1813854" y="5951"/>
                    <a:pt x="1824447" y="16544"/>
                  </a:cubicBezTo>
                  <a:cubicBezTo>
                    <a:pt x="1835041" y="27138"/>
                    <a:pt x="1840992" y="41505"/>
                    <a:pt x="1840992" y="56486"/>
                  </a:cubicBezTo>
                  <a:lnTo>
                    <a:pt x="1840992" y="2228051"/>
                  </a:lnTo>
                  <a:cubicBezTo>
                    <a:pt x="1840992" y="2243032"/>
                    <a:pt x="1835041" y="2257399"/>
                    <a:pt x="1824447" y="2267992"/>
                  </a:cubicBezTo>
                  <a:cubicBezTo>
                    <a:pt x="1813854" y="2278586"/>
                    <a:pt x="1799487" y="2284537"/>
                    <a:pt x="1784506" y="2284537"/>
                  </a:cubicBezTo>
                  <a:lnTo>
                    <a:pt x="56486" y="2284537"/>
                  </a:lnTo>
                  <a:cubicBezTo>
                    <a:pt x="41505" y="2284537"/>
                    <a:pt x="27138" y="2278586"/>
                    <a:pt x="16544" y="2267992"/>
                  </a:cubicBezTo>
                  <a:cubicBezTo>
                    <a:pt x="5951" y="2257399"/>
                    <a:pt x="0" y="2243032"/>
                    <a:pt x="0" y="2228051"/>
                  </a:cubicBezTo>
                  <a:lnTo>
                    <a:pt x="0" y="56486"/>
                  </a:lnTo>
                  <a:cubicBezTo>
                    <a:pt x="0" y="41505"/>
                    <a:pt x="5951" y="27138"/>
                    <a:pt x="16544" y="16544"/>
                  </a:cubicBezTo>
                  <a:cubicBezTo>
                    <a:pt x="27138" y="5951"/>
                    <a:pt x="41505" y="0"/>
                    <a:pt x="56486" y="0"/>
                  </a:cubicBezTo>
                  <a:close/>
                </a:path>
              </a:pathLst>
            </a:custGeom>
            <a:solidFill>
              <a:srgbClr val="004AAD"/>
            </a:solidFill>
          </p:spPr>
          <p:txBody>
            <a:bodyPr/>
            <a:lstStyle/>
            <a:p>
              <a:endParaRPr lang="en-IN"/>
            </a:p>
          </p:txBody>
        </p:sp>
        <p:sp>
          <p:nvSpPr>
            <p:cNvPr id="11" name="TextBox 11"/>
            <p:cNvSpPr txBox="1"/>
            <p:nvPr/>
          </p:nvSpPr>
          <p:spPr>
            <a:xfrm>
              <a:off x="0" y="-47625"/>
              <a:ext cx="1840992" cy="233216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078172" y="2129313"/>
            <a:ext cx="4856091" cy="972636"/>
          </a:xfrm>
          <a:prstGeom prst="rect">
            <a:avLst/>
          </a:prstGeom>
        </p:spPr>
        <p:txBody>
          <a:bodyPr lIns="0" tIns="0" rIns="0" bIns="0" rtlCol="0" anchor="t">
            <a:spAutoFit/>
          </a:bodyPr>
          <a:lstStyle/>
          <a:p>
            <a:pPr algn="r">
              <a:lnSpc>
                <a:spcPts val="2565"/>
              </a:lnSpc>
              <a:spcBef>
                <a:spcPct val="0"/>
              </a:spcBef>
            </a:pPr>
            <a:r>
              <a:rPr lang="en-US" sz="1832">
                <a:solidFill>
                  <a:srgbClr val="004AAD"/>
                </a:solidFill>
                <a:latin typeface="Poppins"/>
                <a:ea typeface="Poppins"/>
                <a:cs typeface="Poppins"/>
                <a:sym typeface="Poppins"/>
              </a:rPr>
              <a:t>Lorem ipsum dolor sit amet, consectetur adipiscing elit, sed do eiusmod tempor incididunt ut labore et dolore </a:t>
            </a:r>
          </a:p>
        </p:txBody>
      </p:sp>
      <p:sp>
        <p:nvSpPr>
          <p:cNvPr id="13" name="TextBox 13"/>
          <p:cNvSpPr txBox="1"/>
          <p:nvPr/>
        </p:nvSpPr>
        <p:spPr>
          <a:xfrm>
            <a:off x="1078172" y="4633369"/>
            <a:ext cx="4856091" cy="972636"/>
          </a:xfrm>
          <a:prstGeom prst="rect">
            <a:avLst/>
          </a:prstGeom>
        </p:spPr>
        <p:txBody>
          <a:bodyPr lIns="0" tIns="0" rIns="0" bIns="0" rtlCol="0" anchor="t">
            <a:spAutoFit/>
          </a:bodyPr>
          <a:lstStyle/>
          <a:p>
            <a:pPr algn="r">
              <a:lnSpc>
                <a:spcPts val="2565"/>
              </a:lnSpc>
              <a:spcBef>
                <a:spcPct val="0"/>
              </a:spcBef>
            </a:pPr>
            <a:r>
              <a:rPr lang="en-US" sz="1832">
                <a:solidFill>
                  <a:srgbClr val="004AAD"/>
                </a:solidFill>
                <a:latin typeface="Poppins"/>
                <a:ea typeface="Poppins"/>
                <a:cs typeface="Poppins"/>
                <a:sym typeface="Poppins"/>
              </a:rPr>
              <a:t>Lorem ipsum dolor sit amet, consectetur adipiscing elit, sed do eiusmod tempor incididunt ut labore et dolore </a:t>
            </a:r>
          </a:p>
        </p:txBody>
      </p:sp>
      <p:sp>
        <p:nvSpPr>
          <p:cNvPr id="14" name="TextBox 14"/>
          <p:cNvSpPr txBox="1"/>
          <p:nvPr/>
        </p:nvSpPr>
        <p:spPr>
          <a:xfrm>
            <a:off x="1078172" y="7336782"/>
            <a:ext cx="4856091" cy="972636"/>
          </a:xfrm>
          <a:prstGeom prst="rect">
            <a:avLst/>
          </a:prstGeom>
        </p:spPr>
        <p:txBody>
          <a:bodyPr lIns="0" tIns="0" rIns="0" bIns="0" rtlCol="0" anchor="t">
            <a:spAutoFit/>
          </a:bodyPr>
          <a:lstStyle/>
          <a:p>
            <a:pPr algn="r">
              <a:lnSpc>
                <a:spcPts val="2565"/>
              </a:lnSpc>
              <a:spcBef>
                <a:spcPct val="0"/>
              </a:spcBef>
            </a:pPr>
            <a:r>
              <a:rPr lang="en-US" sz="1832">
                <a:solidFill>
                  <a:srgbClr val="004AAD"/>
                </a:solidFill>
                <a:latin typeface="Poppins"/>
                <a:ea typeface="Poppins"/>
                <a:cs typeface="Poppins"/>
                <a:sym typeface="Poppins"/>
              </a:rPr>
              <a:t>Lorem ipsum dolor sit amet, consectetur adipiscing elit, sed do eiusmod tempor incididunt ut labore et dolore </a:t>
            </a:r>
          </a:p>
        </p:txBody>
      </p:sp>
      <p:grpSp>
        <p:nvGrpSpPr>
          <p:cNvPr id="15" name="Group 15"/>
          <p:cNvGrpSpPr>
            <a:grpSpLocks noChangeAspect="1"/>
          </p:cNvGrpSpPr>
          <p:nvPr/>
        </p:nvGrpSpPr>
        <p:grpSpPr>
          <a:xfrm>
            <a:off x="806450" y="806450"/>
            <a:ext cx="6990015" cy="9393515"/>
            <a:chOff x="0" y="0"/>
            <a:chExt cx="3663950" cy="4923790"/>
          </a:xfrm>
        </p:grpSpPr>
        <p:sp>
          <p:nvSpPr>
            <p:cNvPr id="16" name="Freeform 16"/>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7881" r="-7881"/>
              </a:stretch>
            </a:blipFill>
          </p:spPr>
          <p:txBody>
            <a:bodyPr/>
            <a:lstStyle/>
            <a:p>
              <a:endParaRPr lang="en-IN"/>
            </a:p>
          </p:txBody>
        </p:sp>
        <p:sp>
          <p:nvSpPr>
            <p:cNvPr id="17" name="Freeform 17"/>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028700" y="3173913"/>
            <a:ext cx="6021380"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ANALYSIS</a:t>
            </a:r>
          </a:p>
        </p:txBody>
      </p:sp>
      <p:sp>
        <p:nvSpPr>
          <p:cNvPr id="4" name="TextBox 4"/>
          <p:cNvSpPr txBox="1"/>
          <p:nvPr/>
        </p:nvSpPr>
        <p:spPr>
          <a:xfrm>
            <a:off x="1028700" y="2361785"/>
            <a:ext cx="4842085"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CHARTS &amp; </a:t>
            </a:r>
          </a:p>
        </p:txBody>
      </p:sp>
      <p:sp>
        <p:nvSpPr>
          <p:cNvPr id="5" name="TextBox 5"/>
          <p:cNvSpPr txBox="1"/>
          <p:nvPr/>
        </p:nvSpPr>
        <p:spPr>
          <a:xfrm>
            <a:off x="1028700" y="4380121"/>
            <a:ext cx="8929649" cy="4186177"/>
          </a:xfrm>
          <a:prstGeom prst="rect">
            <a:avLst/>
          </a:prstGeom>
        </p:spPr>
        <p:txBody>
          <a:bodyPr lIns="0" tIns="0" rIns="0" bIns="0" rtlCol="0" anchor="t">
            <a:spAutoFit/>
          </a:bodyPr>
          <a:lstStyle/>
          <a:p>
            <a:pPr marL="735708" lvl="1" indent="-367854" algn="l">
              <a:lnSpc>
                <a:spcPts val="4770"/>
              </a:lnSpc>
              <a:buFont typeface="Arial"/>
              <a:buChar char="•"/>
            </a:pPr>
            <a:r>
              <a:rPr lang="en-US" sz="3407">
                <a:solidFill>
                  <a:srgbClr val="000000"/>
                </a:solidFill>
                <a:latin typeface="Poppins"/>
                <a:ea typeface="Poppins"/>
                <a:cs typeface="Poppins"/>
                <a:sym typeface="Poppins"/>
              </a:rPr>
              <a:t>Displays monthly expense trends using bar charts.</a:t>
            </a:r>
          </a:p>
          <a:p>
            <a:pPr marL="735708" lvl="1" indent="-367854" algn="l">
              <a:lnSpc>
                <a:spcPts val="4770"/>
              </a:lnSpc>
              <a:buFont typeface="Arial"/>
              <a:buChar char="•"/>
            </a:pPr>
            <a:r>
              <a:rPr lang="en-US" sz="3407">
                <a:solidFill>
                  <a:srgbClr val="000000"/>
                </a:solidFill>
                <a:latin typeface="Poppins"/>
                <a:ea typeface="Poppins"/>
                <a:cs typeface="Poppins"/>
                <a:sym typeface="Poppins"/>
              </a:rPr>
              <a:t>Shows monthly savings through graphical analysis.</a:t>
            </a:r>
          </a:p>
          <a:p>
            <a:pPr marL="735708" lvl="1" indent="-367854" algn="l">
              <a:lnSpc>
                <a:spcPts val="4770"/>
              </a:lnSpc>
              <a:buFont typeface="Arial"/>
              <a:buChar char="•"/>
            </a:pPr>
            <a:r>
              <a:rPr lang="en-US" sz="3407">
                <a:solidFill>
                  <a:srgbClr val="000000"/>
                </a:solidFill>
                <a:latin typeface="Poppins"/>
                <a:ea typeface="Poppins"/>
                <a:cs typeface="Poppins"/>
                <a:sym typeface="Poppins"/>
              </a:rPr>
              <a:t>Makes financial analysis simple and easy to understand.</a:t>
            </a:r>
          </a:p>
          <a:p>
            <a:pPr algn="l">
              <a:lnSpc>
                <a:spcPts val="4770"/>
              </a:lnSpc>
              <a:spcBef>
                <a:spcPct val="0"/>
              </a:spcBef>
            </a:pPr>
            <a:endParaRPr lang="en-US" sz="3407">
              <a:solidFill>
                <a:srgbClr val="000000"/>
              </a:solidFill>
              <a:latin typeface="Poppins"/>
              <a:ea typeface="Poppins"/>
              <a:cs typeface="Poppins"/>
              <a:sym typeface="Poppins"/>
            </a:endParaRPr>
          </a:p>
        </p:txBody>
      </p:sp>
      <p:grpSp>
        <p:nvGrpSpPr>
          <p:cNvPr id="6" name="Group 6"/>
          <p:cNvGrpSpPr>
            <a:grpSpLocks noChangeAspect="1"/>
          </p:cNvGrpSpPr>
          <p:nvPr/>
        </p:nvGrpSpPr>
        <p:grpSpPr>
          <a:xfrm>
            <a:off x="11298520" y="447103"/>
            <a:ext cx="6989480" cy="9392795"/>
            <a:chOff x="0" y="0"/>
            <a:chExt cx="3663950" cy="4923790"/>
          </a:xfrm>
        </p:grpSpPr>
        <p:sp>
          <p:nvSpPr>
            <p:cNvPr id="7" name="Freeform 7"/>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8076" r="-8076"/>
              </a:stretch>
            </a:blipFill>
          </p:spPr>
          <p:txBody>
            <a:bodyPr/>
            <a:lstStyle/>
            <a:p>
              <a:endParaRPr lang="en-IN"/>
            </a:p>
          </p:txBody>
        </p:sp>
        <p:sp>
          <p:nvSpPr>
            <p:cNvPr id="8" name="Freeform 8"/>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9689094" y="2471158"/>
            <a:ext cx="6021380"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TIPS</a:t>
            </a:r>
          </a:p>
        </p:txBody>
      </p:sp>
      <p:sp>
        <p:nvSpPr>
          <p:cNvPr id="4" name="TextBox 4"/>
          <p:cNvSpPr txBox="1"/>
          <p:nvPr/>
        </p:nvSpPr>
        <p:spPr>
          <a:xfrm>
            <a:off x="9414244" y="1667414"/>
            <a:ext cx="7080155" cy="908518"/>
          </a:xfrm>
          <a:prstGeom prst="rect">
            <a:avLst/>
          </a:prstGeom>
        </p:spPr>
        <p:txBody>
          <a:bodyPr lIns="0" tIns="0" rIns="0" bIns="0" rtlCol="0" anchor="t">
            <a:spAutoFit/>
          </a:bodyPr>
          <a:lstStyle/>
          <a:p>
            <a:pPr algn="l">
              <a:lnSpc>
                <a:spcPts val="7397"/>
              </a:lnSpc>
            </a:pPr>
            <a:r>
              <a:rPr lang="en-US" sz="5284">
                <a:solidFill>
                  <a:srgbClr val="000000"/>
                </a:solidFill>
                <a:latin typeface="Roboto"/>
                <a:ea typeface="Roboto"/>
                <a:cs typeface="Roboto"/>
                <a:sym typeface="Roboto"/>
              </a:rPr>
              <a:t> SMART FINANCIAL </a:t>
            </a:r>
          </a:p>
        </p:txBody>
      </p:sp>
      <p:sp>
        <p:nvSpPr>
          <p:cNvPr id="5" name="TextBox 5"/>
          <p:cNvSpPr txBox="1"/>
          <p:nvPr/>
        </p:nvSpPr>
        <p:spPr>
          <a:xfrm>
            <a:off x="9144000" y="4049757"/>
            <a:ext cx="9144000" cy="4274624"/>
          </a:xfrm>
          <a:prstGeom prst="rect">
            <a:avLst/>
          </a:prstGeom>
        </p:spPr>
        <p:txBody>
          <a:bodyPr lIns="0" tIns="0" rIns="0" bIns="0" rtlCol="0" anchor="t">
            <a:spAutoFit/>
          </a:bodyPr>
          <a:lstStyle/>
          <a:p>
            <a:pPr marL="753369" lvl="1" indent="-376684" algn="l">
              <a:lnSpc>
                <a:spcPts val="4885"/>
              </a:lnSpc>
              <a:buFont typeface="Arial"/>
              <a:buChar char="•"/>
            </a:pPr>
            <a:r>
              <a:rPr lang="en-US" sz="3489">
                <a:solidFill>
                  <a:srgbClr val="000000"/>
                </a:solidFill>
                <a:latin typeface="Poppins"/>
                <a:ea typeface="Poppins"/>
                <a:cs typeface="Poppins"/>
                <a:sym typeface="Poppins"/>
              </a:rPr>
              <a:t>Provides useful budgeting and saving tips.</a:t>
            </a:r>
          </a:p>
          <a:p>
            <a:pPr marL="753369" lvl="1" indent="-376684" algn="l">
              <a:lnSpc>
                <a:spcPts val="4885"/>
              </a:lnSpc>
              <a:buFont typeface="Arial"/>
              <a:buChar char="•"/>
            </a:pPr>
            <a:r>
              <a:rPr lang="en-US" sz="3489">
                <a:solidFill>
                  <a:srgbClr val="000000"/>
                </a:solidFill>
                <a:latin typeface="Poppins"/>
                <a:ea typeface="Poppins"/>
                <a:cs typeface="Poppins"/>
                <a:sym typeface="Poppins"/>
              </a:rPr>
              <a:t>Includes travel, food, and study budget suggestions.</a:t>
            </a:r>
          </a:p>
          <a:p>
            <a:pPr marL="753369" lvl="1" indent="-376684" algn="l">
              <a:lnSpc>
                <a:spcPts val="4885"/>
              </a:lnSpc>
              <a:buFont typeface="Arial"/>
              <a:buChar char="•"/>
            </a:pPr>
            <a:r>
              <a:rPr lang="en-US" sz="3489">
                <a:solidFill>
                  <a:srgbClr val="000000"/>
                </a:solidFill>
                <a:latin typeface="Poppins"/>
                <a:ea typeface="Poppins"/>
                <a:cs typeface="Poppins"/>
                <a:sym typeface="Poppins"/>
              </a:rPr>
              <a:t>Helps users improve financial planning.</a:t>
            </a:r>
          </a:p>
          <a:p>
            <a:pPr algn="l">
              <a:lnSpc>
                <a:spcPts val="4885"/>
              </a:lnSpc>
              <a:spcBef>
                <a:spcPct val="0"/>
              </a:spcBef>
            </a:pPr>
            <a:endParaRPr lang="en-US" sz="3489">
              <a:solidFill>
                <a:srgbClr val="000000"/>
              </a:solidFill>
              <a:latin typeface="Poppins"/>
              <a:ea typeface="Poppins"/>
              <a:cs typeface="Poppins"/>
              <a:sym typeface="Poppins"/>
            </a:endParaRPr>
          </a:p>
        </p:txBody>
      </p:sp>
      <p:grpSp>
        <p:nvGrpSpPr>
          <p:cNvPr id="6" name="Group 6"/>
          <p:cNvGrpSpPr>
            <a:grpSpLocks noChangeAspect="1"/>
          </p:cNvGrpSpPr>
          <p:nvPr/>
        </p:nvGrpSpPr>
        <p:grpSpPr>
          <a:xfrm>
            <a:off x="1028700" y="894205"/>
            <a:ext cx="6989480" cy="9392795"/>
            <a:chOff x="0" y="0"/>
            <a:chExt cx="3663950" cy="4923790"/>
          </a:xfrm>
        </p:grpSpPr>
        <p:sp>
          <p:nvSpPr>
            <p:cNvPr id="7" name="Freeform 7"/>
            <p:cNvSpPr/>
            <p:nvPr/>
          </p:nvSpPr>
          <p:spPr>
            <a:xfrm rot="-24000">
              <a:off x="17333" y="21741"/>
              <a:ext cx="3628014" cy="4879037"/>
            </a:xfrm>
            <a:custGeom>
              <a:avLst/>
              <a:gdLst/>
              <a:ahLst/>
              <a:cxnLst/>
              <a:rect l="l" t="t" r="r" b="b"/>
              <a:pathLst>
                <a:path w="3628014" h="4879037">
                  <a:moveTo>
                    <a:pt x="3600371" y="4522136"/>
                  </a:moveTo>
                  <a:cubicBezTo>
                    <a:pt x="3598979" y="4721522"/>
                    <a:pt x="3436576" y="4880411"/>
                    <a:pt x="3238461" y="4879028"/>
                  </a:cubicBezTo>
                  <a:lnTo>
                    <a:pt x="356901" y="4858911"/>
                  </a:lnTo>
                  <a:cubicBezTo>
                    <a:pt x="157516" y="4857519"/>
                    <a:pt x="-1374" y="4695115"/>
                    <a:pt x="9" y="4497001"/>
                  </a:cubicBezTo>
                  <a:lnTo>
                    <a:pt x="28913" y="356901"/>
                  </a:lnTo>
                  <a:cubicBezTo>
                    <a:pt x="30305" y="157516"/>
                    <a:pt x="192708" y="-1374"/>
                    <a:pt x="390823" y="9"/>
                  </a:cubicBezTo>
                  <a:lnTo>
                    <a:pt x="3271113" y="20118"/>
                  </a:lnTo>
                  <a:cubicBezTo>
                    <a:pt x="3470498" y="21510"/>
                    <a:pt x="3629388" y="183913"/>
                    <a:pt x="3628005" y="382028"/>
                  </a:cubicBezTo>
                  <a:lnTo>
                    <a:pt x="3600371" y="4522136"/>
                  </a:lnTo>
                  <a:close/>
                </a:path>
              </a:pathLst>
            </a:custGeom>
            <a:blipFill>
              <a:blip r:embed="rId3"/>
              <a:stretch>
                <a:fillRect r="-30919" b="-28875"/>
              </a:stretch>
            </a:blipFill>
          </p:spPr>
          <p:txBody>
            <a:bodyPr/>
            <a:lstStyle/>
            <a:p>
              <a:endParaRPr lang="en-IN"/>
            </a:p>
          </p:txBody>
        </p:sp>
        <p:sp>
          <p:nvSpPr>
            <p:cNvPr id="8" name="Freeform 8"/>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1624726"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en-IN"/>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806450" y="806450"/>
            <a:ext cx="6990015" cy="8674100"/>
            <a:chOff x="0" y="0"/>
            <a:chExt cx="1840992" cy="2284537"/>
          </a:xfrm>
        </p:grpSpPr>
        <p:sp>
          <p:nvSpPr>
            <p:cNvPr id="7" name="Freeform 7"/>
            <p:cNvSpPr/>
            <p:nvPr/>
          </p:nvSpPr>
          <p:spPr>
            <a:xfrm>
              <a:off x="0" y="0"/>
              <a:ext cx="1840992" cy="2284537"/>
            </a:xfrm>
            <a:custGeom>
              <a:avLst/>
              <a:gdLst/>
              <a:ahLst/>
              <a:cxnLst/>
              <a:rect l="l" t="t" r="r" b="b"/>
              <a:pathLst>
                <a:path w="1840992" h="2284537">
                  <a:moveTo>
                    <a:pt x="56486" y="0"/>
                  </a:moveTo>
                  <a:lnTo>
                    <a:pt x="1784506" y="0"/>
                  </a:lnTo>
                  <a:cubicBezTo>
                    <a:pt x="1799487" y="0"/>
                    <a:pt x="1813854" y="5951"/>
                    <a:pt x="1824447" y="16544"/>
                  </a:cubicBezTo>
                  <a:cubicBezTo>
                    <a:pt x="1835041" y="27138"/>
                    <a:pt x="1840992" y="41505"/>
                    <a:pt x="1840992" y="56486"/>
                  </a:cubicBezTo>
                  <a:lnTo>
                    <a:pt x="1840992" y="2228051"/>
                  </a:lnTo>
                  <a:cubicBezTo>
                    <a:pt x="1840992" y="2243032"/>
                    <a:pt x="1835041" y="2257399"/>
                    <a:pt x="1824447" y="2267992"/>
                  </a:cubicBezTo>
                  <a:cubicBezTo>
                    <a:pt x="1813854" y="2278586"/>
                    <a:pt x="1799487" y="2284537"/>
                    <a:pt x="1784506" y="2284537"/>
                  </a:cubicBezTo>
                  <a:lnTo>
                    <a:pt x="56486" y="2284537"/>
                  </a:lnTo>
                  <a:cubicBezTo>
                    <a:pt x="41505" y="2284537"/>
                    <a:pt x="27138" y="2278586"/>
                    <a:pt x="16544" y="2267992"/>
                  </a:cubicBezTo>
                  <a:cubicBezTo>
                    <a:pt x="5951" y="2257399"/>
                    <a:pt x="0" y="2243032"/>
                    <a:pt x="0" y="2228051"/>
                  </a:cubicBezTo>
                  <a:lnTo>
                    <a:pt x="0" y="56486"/>
                  </a:lnTo>
                  <a:cubicBezTo>
                    <a:pt x="0" y="41505"/>
                    <a:pt x="5951" y="27138"/>
                    <a:pt x="16544" y="16544"/>
                  </a:cubicBezTo>
                  <a:cubicBezTo>
                    <a:pt x="27138" y="5951"/>
                    <a:pt x="41505" y="0"/>
                    <a:pt x="56486" y="0"/>
                  </a:cubicBezTo>
                  <a:close/>
                </a:path>
              </a:pathLst>
            </a:custGeom>
            <a:solidFill>
              <a:srgbClr val="004AAD"/>
            </a:solidFill>
          </p:spPr>
          <p:txBody>
            <a:bodyPr/>
            <a:lstStyle/>
            <a:p>
              <a:endParaRPr lang="en-IN"/>
            </a:p>
          </p:txBody>
        </p:sp>
        <p:sp>
          <p:nvSpPr>
            <p:cNvPr id="8" name="TextBox 8"/>
            <p:cNvSpPr txBox="1"/>
            <p:nvPr/>
          </p:nvSpPr>
          <p:spPr>
            <a:xfrm>
              <a:off x="0" y="-47625"/>
              <a:ext cx="1840992" cy="233216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078172" y="2129313"/>
            <a:ext cx="4856091" cy="972636"/>
          </a:xfrm>
          <a:prstGeom prst="rect">
            <a:avLst/>
          </a:prstGeom>
        </p:spPr>
        <p:txBody>
          <a:bodyPr lIns="0" tIns="0" rIns="0" bIns="0" rtlCol="0" anchor="t">
            <a:spAutoFit/>
          </a:bodyPr>
          <a:lstStyle/>
          <a:p>
            <a:pPr algn="r">
              <a:lnSpc>
                <a:spcPts val="2565"/>
              </a:lnSpc>
              <a:spcBef>
                <a:spcPct val="0"/>
              </a:spcBef>
            </a:pPr>
            <a:r>
              <a:rPr lang="en-US" sz="1832">
                <a:solidFill>
                  <a:srgbClr val="004AAD"/>
                </a:solidFill>
                <a:latin typeface="Poppins"/>
                <a:ea typeface="Poppins"/>
                <a:cs typeface="Poppins"/>
                <a:sym typeface="Poppins"/>
              </a:rPr>
              <a:t>Lorem ipsum dolor sit amet, consectetur adipiscing elit, sed do eiusmod tempor incididunt ut labore et dolore </a:t>
            </a:r>
          </a:p>
        </p:txBody>
      </p:sp>
      <p:sp>
        <p:nvSpPr>
          <p:cNvPr id="10" name="TextBox 10"/>
          <p:cNvSpPr txBox="1"/>
          <p:nvPr/>
        </p:nvSpPr>
        <p:spPr>
          <a:xfrm>
            <a:off x="1078172" y="4633369"/>
            <a:ext cx="4856091" cy="972636"/>
          </a:xfrm>
          <a:prstGeom prst="rect">
            <a:avLst/>
          </a:prstGeom>
        </p:spPr>
        <p:txBody>
          <a:bodyPr lIns="0" tIns="0" rIns="0" bIns="0" rtlCol="0" anchor="t">
            <a:spAutoFit/>
          </a:bodyPr>
          <a:lstStyle/>
          <a:p>
            <a:pPr algn="r">
              <a:lnSpc>
                <a:spcPts val="2565"/>
              </a:lnSpc>
              <a:spcBef>
                <a:spcPct val="0"/>
              </a:spcBef>
            </a:pPr>
            <a:r>
              <a:rPr lang="en-US" sz="1832">
                <a:solidFill>
                  <a:srgbClr val="004AAD"/>
                </a:solidFill>
                <a:latin typeface="Poppins"/>
                <a:ea typeface="Poppins"/>
                <a:cs typeface="Poppins"/>
                <a:sym typeface="Poppins"/>
              </a:rPr>
              <a:t>Lorem ipsum dolor sit amet, consectetur adipiscing elit, sed do eiusmod tempor incididunt ut labore et dolore </a:t>
            </a:r>
          </a:p>
        </p:txBody>
      </p:sp>
      <p:sp>
        <p:nvSpPr>
          <p:cNvPr id="11" name="TextBox 11"/>
          <p:cNvSpPr txBox="1"/>
          <p:nvPr/>
        </p:nvSpPr>
        <p:spPr>
          <a:xfrm>
            <a:off x="1078172" y="7336782"/>
            <a:ext cx="4856091" cy="972636"/>
          </a:xfrm>
          <a:prstGeom prst="rect">
            <a:avLst/>
          </a:prstGeom>
        </p:spPr>
        <p:txBody>
          <a:bodyPr lIns="0" tIns="0" rIns="0" bIns="0" rtlCol="0" anchor="t">
            <a:spAutoFit/>
          </a:bodyPr>
          <a:lstStyle/>
          <a:p>
            <a:pPr algn="r">
              <a:lnSpc>
                <a:spcPts val="2565"/>
              </a:lnSpc>
              <a:spcBef>
                <a:spcPct val="0"/>
              </a:spcBef>
            </a:pPr>
            <a:r>
              <a:rPr lang="en-US" sz="1832">
                <a:solidFill>
                  <a:srgbClr val="004AAD"/>
                </a:solidFill>
                <a:latin typeface="Poppins"/>
                <a:ea typeface="Poppins"/>
                <a:cs typeface="Poppins"/>
                <a:sym typeface="Poppins"/>
              </a:rPr>
              <a:t>Lorem ipsum dolor sit amet, consectetur adipiscing elit, sed do eiusmod tempor incididunt ut labore et dolore </a:t>
            </a:r>
          </a:p>
        </p:txBody>
      </p:sp>
      <p:grpSp>
        <p:nvGrpSpPr>
          <p:cNvPr id="12" name="Group 12"/>
          <p:cNvGrpSpPr>
            <a:grpSpLocks noChangeAspect="1"/>
          </p:cNvGrpSpPr>
          <p:nvPr/>
        </p:nvGrpSpPr>
        <p:grpSpPr>
          <a:xfrm>
            <a:off x="806450" y="806450"/>
            <a:ext cx="6990015" cy="9393515"/>
            <a:chOff x="0" y="0"/>
            <a:chExt cx="3663950" cy="4923790"/>
          </a:xfrm>
        </p:grpSpPr>
        <p:sp>
          <p:nvSpPr>
            <p:cNvPr id="13" name="Freeform 13"/>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4800" r="-20132"/>
              </a:stretch>
            </a:blipFill>
          </p:spPr>
          <p:txBody>
            <a:bodyPr/>
            <a:lstStyle/>
            <a:p>
              <a:endParaRPr lang="en-IN"/>
            </a:p>
          </p:txBody>
        </p:sp>
        <p:sp>
          <p:nvSpPr>
            <p:cNvPr id="14" name="Freeform 14"/>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en-IN"/>
            </a:p>
          </p:txBody>
        </p:sp>
      </p:grpSp>
      <p:sp>
        <p:nvSpPr>
          <p:cNvPr id="15" name="TextBox 15"/>
          <p:cNvSpPr txBox="1"/>
          <p:nvPr/>
        </p:nvSpPr>
        <p:spPr>
          <a:xfrm>
            <a:off x="9144000" y="2189033"/>
            <a:ext cx="4989403" cy="912915"/>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  PROFILE</a:t>
            </a:r>
          </a:p>
        </p:txBody>
      </p:sp>
      <p:sp>
        <p:nvSpPr>
          <p:cNvPr id="16" name="TextBox 16"/>
          <p:cNvSpPr txBox="1"/>
          <p:nvPr/>
        </p:nvSpPr>
        <p:spPr>
          <a:xfrm>
            <a:off x="9386656" y="1395956"/>
            <a:ext cx="5634574" cy="897853"/>
          </a:xfrm>
          <a:prstGeom prst="rect">
            <a:avLst/>
          </a:prstGeom>
        </p:spPr>
        <p:txBody>
          <a:bodyPr lIns="0" tIns="0" rIns="0" bIns="0" rtlCol="0" anchor="t">
            <a:spAutoFit/>
          </a:bodyPr>
          <a:lstStyle/>
          <a:p>
            <a:pPr algn="l">
              <a:lnSpc>
                <a:spcPts val="7212"/>
              </a:lnSpc>
            </a:pPr>
            <a:r>
              <a:rPr lang="en-US" sz="5151">
                <a:solidFill>
                  <a:srgbClr val="000000"/>
                </a:solidFill>
                <a:latin typeface="Roboto"/>
                <a:ea typeface="Roboto"/>
                <a:cs typeface="Roboto"/>
                <a:sym typeface="Roboto"/>
              </a:rPr>
              <a:t> USER</a:t>
            </a:r>
          </a:p>
        </p:txBody>
      </p:sp>
      <p:sp>
        <p:nvSpPr>
          <p:cNvPr id="17" name="TextBox 17"/>
          <p:cNvSpPr txBox="1"/>
          <p:nvPr/>
        </p:nvSpPr>
        <p:spPr>
          <a:xfrm>
            <a:off x="9041235" y="3464438"/>
            <a:ext cx="10715617" cy="4250347"/>
          </a:xfrm>
          <a:prstGeom prst="rect">
            <a:avLst/>
          </a:prstGeom>
        </p:spPr>
        <p:txBody>
          <a:bodyPr lIns="0" tIns="0" rIns="0" bIns="0" rtlCol="0" anchor="t">
            <a:spAutoFit/>
          </a:bodyPr>
          <a:lstStyle/>
          <a:p>
            <a:pPr marL="872904" lvl="1" indent="-436452" algn="l">
              <a:lnSpc>
                <a:spcPts val="5660"/>
              </a:lnSpc>
              <a:buFont typeface="Arial"/>
              <a:buChar char="•"/>
            </a:pPr>
            <a:r>
              <a:rPr lang="en-US" sz="4043">
                <a:solidFill>
                  <a:srgbClr val="000000"/>
                </a:solidFill>
                <a:latin typeface="Poppins"/>
                <a:ea typeface="Poppins"/>
                <a:cs typeface="Poppins"/>
                <a:sym typeface="Poppins"/>
              </a:rPr>
              <a:t>Displays user profile information.</a:t>
            </a:r>
          </a:p>
          <a:p>
            <a:pPr marL="872904" lvl="1" indent="-436452" algn="l">
              <a:lnSpc>
                <a:spcPts val="5660"/>
              </a:lnSpc>
              <a:buFont typeface="Arial"/>
              <a:buChar char="•"/>
            </a:pPr>
            <a:r>
              <a:rPr lang="en-US" sz="4043">
                <a:solidFill>
                  <a:srgbClr val="000000"/>
                </a:solidFill>
                <a:latin typeface="Poppins"/>
                <a:ea typeface="Poppins"/>
                <a:cs typeface="Poppins"/>
                <a:sym typeface="Poppins"/>
              </a:rPr>
              <a:t>Allows users to update personal details.</a:t>
            </a:r>
          </a:p>
          <a:p>
            <a:pPr marL="872904" lvl="1" indent="-436452" algn="l">
              <a:lnSpc>
                <a:spcPts val="5660"/>
              </a:lnSpc>
              <a:buFont typeface="Arial"/>
              <a:buChar char="•"/>
            </a:pPr>
            <a:r>
              <a:rPr lang="en-US" sz="4043">
                <a:solidFill>
                  <a:srgbClr val="000000"/>
                </a:solidFill>
                <a:latin typeface="Poppins"/>
                <a:ea typeface="Poppins"/>
                <a:cs typeface="Poppins"/>
                <a:sym typeface="Poppins"/>
              </a:rPr>
              <a:t>Shows income, expenses, and balance summary.</a:t>
            </a:r>
          </a:p>
          <a:p>
            <a:pPr algn="l">
              <a:lnSpc>
                <a:spcPts val="5660"/>
              </a:lnSpc>
              <a:spcBef>
                <a:spcPct val="0"/>
              </a:spcBef>
            </a:pPr>
            <a:endParaRPr lang="en-US" sz="4043">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257175" y="1539131"/>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en-IN"/>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200386" y="2009628"/>
            <a:ext cx="9719505" cy="960831"/>
          </a:xfrm>
          <a:prstGeom prst="rect">
            <a:avLst/>
          </a:prstGeom>
        </p:spPr>
        <p:txBody>
          <a:bodyPr lIns="0" tIns="0" rIns="0" bIns="0" rtlCol="0" anchor="t">
            <a:spAutoFit/>
          </a:bodyPr>
          <a:lstStyle/>
          <a:p>
            <a:pPr algn="ctr">
              <a:lnSpc>
                <a:spcPts val="7940"/>
              </a:lnSpc>
            </a:pPr>
            <a:r>
              <a:rPr lang="en-US" sz="5672" b="1">
                <a:solidFill>
                  <a:srgbClr val="FFFFFF"/>
                </a:solidFill>
                <a:latin typeface="League Spartan"/>
                <a:ea typeface="League Spartan"/>
                <a:cs typeface="League Spartan"/>
                <a:sym typeface="League Spartan"/>
              </a:rPr>
              <a:t>FUTURE ENHANCEMENTS</a:t>
            </a:r>
          </a:p>
        </p:txBody>
      </p:sp>
      <p:sp>
        <p:nvSpPr>
          <p:cNvPr id="7" name="TextBox 7"/>
          <p:cNvSpPr txBox="1"/>
          <p:nvPr/>
        </p:nvSpPr>
        <p:spPr>
          <a:xfrm>
            <a:off x="0" y="3431431"/>
            <a:ext cx="18288000" cy="7194310"/>
          </a:xfrm>
          <a:prstGeom prst="rect">
            <a:avLst/>
          </a:prstGeom>
        </p:spPr>
        <p:txBody>
          <a:bodyPr lIns="0" tIns="0" rIns="0" bIns="0" rtlCol="0" anchor="t">
            <a:spAutoFit/>
          </a:bodyPr>
          <a:lstStyle/>
          <a:p>
            <a:pPr algn="l">
              <a:lnSpc>
                <a:spcPts val="5162"/>
              </a:lnSpc>
            </a:pPr>
            <a:endParaRPr/>
          </a:p>
          <a:p>
            <a:pPr marL="796076" lvl="1" indent="-398038" algn="l">
              <a:lnSpc>
                <a:spcPts val="5162"/>
              </a:lnSpc>
              <a:buFont typeface="Arial"/>
              <a:buChar char="•"/>
            </a:pPr>
            <a:r>
              <a:rPr lang="en-US" sz="3687">
                <a:solidFill>
                  <a:srgbClr val="303642"/>
                </a:solidFill>
                <a:latin typeface="Poppins"/>
                <a:ea typeface="Poppins"/>
                <a:cs typeface="Poppins"/>
                <a:sym typeface="Poppins"/>
              </a:rPr>
              <a:t> Support importing *more than 3,000+ expense records* from Excel/CSV files.</a:t>
            </a:r>
          </a:p>
          <a:p>
            <a:pPr marL="796076" lvl="1" indent="-398038" algn="l">
              <a:lnSpc>
                <a:spcPts val="5162"/>
              </a:lnSpc>
              <a:buFont typeface="Arial"/>
              <a:buChar char="•"/>
            </a:pPr>
            <a:r>
              <a:rPr lang="en-US" sz="3687">
                <a:solidFill>
                  <a:srgbClr val="303642"/>
                </a:solidFill>
                <a:latin typeface="Poppins"/>
                <a:ea typeface="Poppins"/>
                <a:cs typeface="Poppins"/>
                <a:sym typeface="Poppins"/>
              </a:rPr>
              <a:t>Process and analyze large datasets with *faster performance*.</a:t>
            </a:r>
          </a:p>
          <a:p>
            <a:pPr marL="796076" lvl="1" indent="-398038" algn="l">
              <a:lnSpc>
                <a:spcPts val="5162"/>
              </a:lnSpc>
              <a:buFont typeface="Arial"/>
              <a:buChar char="•"/>
            </a:pPr>
            <a:r>
              <a:rPr lang="en-US" sz="3687">
                <a:solidFill>
                  <a:srgbClr val="303642"/>
                </a:solidFill>
                <a:latin typeface="Poppins"/>
                <a:ea typeface="Poppins"/>
                <a:cs typeface="Poppins"/>
                <a:sym typeface="Poppins"/>
              </a:rPr>
              <a:t>Provide *Power BI–like interactive dashboards and advanced charts* for better data visualization.</a:t>
            </a:r>
          </a:p>
          <a:p>
            <a:pPr marL="796076" lvl="1" indent="-398038" algn="l">
              <a:lnSpc>
                <a:spcPts val="5162"/>
              </a:lnSpc>
              <a:buFont typeface="Arial"/>
              <a:buChar char="•"/>
            </a:pPr>
            <a:r>
              <a:rPr lang="en-US" sz="3687">
                <a:solidFill>
                  <a:srgbClr val="303642"/>
                </a:solidFill>
                <a:latin typeface="Poppins"/>
                <a:ea typeface="Poppins"/>
                <a:cs typeface="Poppins"/>
                <a:sym typeface="Poppins"/>
              </a:rPr>
              <a:t>Integrate a *cloud database* for secure online data storage and synchronization.</a:t>
            </a:r>
          </a:p>
          <a:p>
            <a:pPr marL="796076" lvl="1" indent="-398038" algn="l">
              <a:lnSpc>
                <a:spcPts val="5162"/>
              </a:lnSpc>
              <a:buFont typeface="Arial"/>
              <a:buChar char="•"/>
            </a:pPr>
            <a:r>
              <a:rPr lang="en-US" sz="3687">
                <a:solidFill>
                  <a:srgbClr val="303642"/>
                </a:solidFill>
                <a:latin typeface="Poppins"/>
                <a:ea typeface="Poppins"/>
                <a:cs typeface="Poppins"/>
                <a:sym typeface="Poppins"/>
              </a:rPr>
              <a:t>Add *AI-based expense analysis* and personalized saving suggestions.</a:t>
            </a:r>
          </a:p>
          <a:p>
            <a:pPr marL="796076" lvl="1" indent="-398038" algn="l">
              <a:lnSpc>
                <a:spcPts val="5162"/>
              </a:lnSpc>
              <a:buFont typeface="Arial"/>
              <a:buChar char="•"/>
            </a:pPr>
            <a:r>
              <a:rPr lang="en-US" sz="3687">
                <a:solidFill>
                  <a:srgbClr val="303642"/>
                </a:solidFill>
                <a:latin typeface="Poppins"/>
                <a:ea typeface="Poppins"/>
                <a:cs typeface="Poppins"/>
                <a:sym typeface="Poppins"/>
              </a:rPr>
              <a:t>Develop *Android and iOS mobile applications*.</a:t>
            </a:r>
          </a:p>
          <a:p>
            <a:pPr algn="l">
              <a:lnSpc>
                <a:spcPts val="5162"/>
              </a:lnSpc>
            </a:pPr>
            <a:endParaRPr lang="en-US" sz="3687">
              <a:solidFill>
                <a:srgbClr val="303642"/>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257175" y="1539131"/>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en-IN"/>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200386" y="2009628"/>
            <a:ext cx="9719505" cy="960831"/>
          </a:xfrm>
          <a:prstGeom prst="rect">
            <a:avLst/>
          </a:prstGeom>
        </p:spPr>
        <p:txBody>
          <a:bodyPr lIns="0" tIns="0" rIns="0" bIns="0" rtlCol="0" anchor="t">
            <a:spAutoFit/>
          </a:bodyPr>
          <a:lstStyle/>
          <a:p>
            <a:pPr algn="ctr">
              <a:lnSpc>
                <a:spcPts val="7940"/>
              </a:lnSpc>
            </a:pPr>
            <a:r>
              <a:rPr lang="en-US" sz="5672" b="1">
                <a:solidFill>
                  <a:srgbClr val="FFFFFF"/>
                </a:solidFill>
                <a:latin typeface="League Spartan"/>
                <a:ea typeface="League Spartan"/>
                <a:cs typeface="League Spartan"/>
                <a:sym typeface="League Spartan"/>
              </a:rPr>
              <a:t>CONCLUSION</a:t>
            </a:r>
          </a:p>
        </p:txBody>
      </p:sp>
      <p:sp>
        <p:nvSpPr>
          <p:cNvPr id="7" name="TextBox 7"/>
          <p:cNvSpPr txBox="1"/>
          <p:nvPr/>
        </p:nvSpPr>
        <p:spPr>
          <a:xfrm>
            <a:off x="1394032" y="4167929"/>
            <a:ext cx="15499937" cy="5487968"/>
          </a:xfrm>
          <a:prstGeom prst="rect">
            <a:avLst/>
          </a:prstGeom>
        </p:spPr>
        <p:txBody>
          <a:bodyPr lIns="0" tIns="0" rIns="0" bIns="0" rtlCol="0" anchor="t">
            <a:spAutoFit/>
          </a:bodyPr>
          <a:lstStyle/>
          <a:p>
            <a:pPr algn="l">
              <a:lnSpc>
                <a:spcPts val="6192"/>
              </a:lnSpc>
            </a:pPr>
            <a:r>
              <a:rPr lang="en-US" sz="4423">
                <a:solidFill>
                  <a:srgbClr val="303642"/>
                </a:solidFill>
                <a:latin typeface="Poppins"/>
                <a:ea typeface="Poppins"/>
                <a:cs typeface="Poppins"/>
                <a:sym typeface="Poppins"/>
              </a:rPr>
              <a:t>The *Expense Tracker* is a simple and user-friendly web application that helps users manage their daily income and expenses efficiently. It provides automatic balance calculation, reports, charts, reminders, and secure data storage using Local Storage. Overall, the project improves financial tracking, saves time, and helps users make better financial decisions.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a:p>
        </p:txBody>
      </p:sp>
      <p:grpSp>
        <p:nvGrpSpPr>
          <p:cNvPr id="3" name="Group 3"/>
          <p:cNvGrpSpPr/>
          <p:nvPr/>
        </p:nvGrpSpPr>
        <p:grpSpPr>
          <a:xfrm>
            <a:off x="-698500" y="3124200"/>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IN"/>
            </a:p>
          </p:txBody>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741400" y="3124200"/>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txBody>
            <a:bodyPr/>
            <a:lstStyle/>
            <a:p>
              <a:endParaRPr lang="en-IN"/>
            </a:p>
          </p:txBody>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7616825" y="6705600"/>
            <a:ext cx="3054350" cy="761278"/>
            <a:chOff x="0" y="0"/>
            <a:chExt cx="804438" cy="200501"/>
          </a:xfrm>
        </p:grpSpPr>
        <p:sp>
          <p:nvSpPr>
            <p:cNvPr id="10" name="Freeform 10"/>
            <p:cNvSpPr/>
            <p:nvPr/>
          </p:nvSpPr>
          <p:spPr>
            <a:xfrm>
              <a:off x="0" y="0"/>
              <a:ext cx="804438" cy="200501"/>
            </a:xfrm>
            <a:custGeom>
              <a:avLst/>
              <a:gdLst/>
              <a:ahLst/>
              <a:cxnLst/>
              <a:rect l="l" t="t" r="r" b="b"/>
              <a:pathLst>
                <a:path w="804438" h="200501">
                  <a:moveTo>
                    <a:pt x="100251" y="0"/>
                  </a:moveTo>
                  <a:lnTo>
                    <a:pt x="704187" y="0"/>
                  </a:lnTo>
                  <a:cubicBezTo>
                    <a:pt x="730775" y="0"/>
                    <a:pt x="756275" y="10562"/>
                    <a:pt x="775075" y="29363"/>
                  </a:cubicBezTo>
                  <a:cubicBezTo>
                    <a:pt x="793876" y="48163"/>
                    <a:pt x="804438" y="73662"/>
                    <a:pt x="804438" y="100251"/>
                  </a:cubicBezTo>
                  <a:lnTo>
                    <a:pt x="804438" y="100251"/>
                  </a:lnTo>
                  <a:cubicBezTo>
                    <a:pt x="804438" y="155617"/>
                    <a:pt x="759554" y="200501"/>
                    <a:pt x="704187" y="200501"/>
                  </a:cubicBezTo>
                  <a:lnTo>
                    <a:pt x="100251" y="200501"/>
                  </a:lnTo>
                  <a:cubicBezTo>
                    <a:pt x="44884" y="200501"/>
                    <a:pt x="0" y="155617"/>
                    <a:pt x="0" y="100251"/>
                  </a:cubicBezTo>
                  <a:lnTo>
                    <a:pt x="0" y="100251"/>
                  </a:lnTo>
                  <a:cubicBezTo>
                    <a:pt x="0" y="44884"/>
                    <a:pt x="44884" y="0"/>
                    <a:pt x="100251" y="0"/>
                  </a:cubicBezTo>
                  <a:close/>
                </a:path>
              </a:pathLst>
            </a:custGeom>
            <a:solidFill>
              <a:srgbClr val="004AAD"/>
            </a:solidFill>
          </p:spPr>
          <p:txBody>
            <a:bodyPr/>
            <a:lstStyle/>
            <a:p>
              <a:endParaRPr lang="en-IN"/>
            </a:p>
          </p:txBody>
        </p:sp>
        <p:sp>
          <p:nvSpPr>
            <p:cNvPr id="11" name="TextBox 11"/>
            <p:cNvSpPr txBox="1"/>
            <p:nvPr/>
          </p:nvSpPr>
          <p:spPr>
            <a:xfrm>
              <a:off x="0" y="-47625"/>
              <a:ext cx="804438" cy="248126"/>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4546600" y="7701758"/>
            <a:ext cx="932347" cy="932347"/>
          </a:xfrm>
          <a:custGeom>
            <a:avLst/>
            <a:gdLst/>
            <a:ahLst/>
            <a:cxnLst/>
            <a:rect l="l" t="t" r="r" b="b"/>
            <a:pathLst>
              <a:path w="932347" h="932347">
                <a:moveTo>
                  <a:pt x="0" y="0"/>
                </a:moveTo>
                <a:lnTo>
                  <a:pt x="932347" y="0"/>
                </a:lnTo>
                <a:lnTo>
                  <a:pt x="932347" y="932346"/>
                </a:lnTo>
                <a:lnTo>
                  <a:pt x="0" y="932346"/>
                </a:lnTo>
                <a:lnTo>
                  <a:pt x="0" y="0"/>
                </a:lnTo>
                <a:close/>
              </a:path>
            </a:pathLst>
          </a:custGeom>
          <a:blipFill>
            <a:blip r:embed="rId3"/>
            <a:stretch>
              <a:fillRect/>
            </a:stretch>
          </a:blipFill>
        </p:spPr>
        <p:txBody>
          <a:bodyPr/>
          <a:lstStyle/>
          <a:p>
            <a:endParaRPr lang="en-IN"/>
          </a:p>
        </p:txBody>
      </p:sp>
      <p:sp>
        <p:nvSpPr>
          <p:cNvPr id="13" name="TextBox 13"/>
          <p:cNvSpPr txBox="1"/>
          <p:nvPr/>
        </p:nvSpPr>
        <p:spPr>
          <a:xfrm>
            <a:off x="4933297" y="3191597"/>
            <a:ext cx="8421405" cy="1265381"/>
          </a:xfrm>
          <a:prstGeom prst="rect">
            <a:avLst/>
          </a:prstGeom>
        </p:spPr>
        <p:txBody>
          <a:bodyPr lIns="0" tIns="0" rIns="0" bIns="0" rtlCol="0" anchor="t">
            <a:spAutoFit/>
          </a:bodyPr>
          <a:lstStyle/>
          <a:p>
            <a:pPr algn="ctr">
              <a:lnSpc>
                <a:spcPts val="10334"/>
              </a:lnSpc>
            </a:pPr>
            <a:r>
              <a:rPr lang="en-US" sz="7382" b="1">
                <a:solidFill>
                  <a:srgbClr val="004AAD"/>
                </a:solidFill>
                <a:latin typeface="League Spartan"/>
                <a:ea typeface="League Spartan"/>
                <a:cs typeface="League Spartan"/>
                <a:sym typeface="League Spartan"/>
              </a:rPr>
              <a:t>THANK YOU</a:t>
            </a:r>
          </a:p>
        </p:txBody>
      </p:sp>
      <p:sp>
        <p:nvSpPr>
          <p:cNvPr id="14" name="TextBox 14"/>
          <p:cNvSpPr txBox="1"/>
          <p:nvPr/>
        </p:nvSpPr>
        <p:spPr>
          <a:xfrm>
            <a:off x="7347826" y="6846823"/>
            <a:ext cx="3592349" cy="535981"/>
          </a:xfrm>
          <a:prstGeom prst="rect">
            <a:avLst/>
          </a:prstGeom>
        </p:spPr>
        <p:txBody>
          <a:bodyPr lIns="0" tIns="0" rIns="0" bIns="0" rtlCol="0" anchor="t">
            <a:spAutoFit/>
          </a:bodyPr>
          <a:lstStyle/>
          <a:p>
            <a:pPr algn="ctr">
              <a:lnSpc>
                <a:spcPts val="4408"/>
              </a:lnSpc>
            </a:pPr>
            <a:r>
              <a:rPr lang="en-US" sz="3148">
                <a:solidFill>
                  <a:srgbClr val="FFFFFF"/>
                </a:solidFill>
                <a:latin typeface="League Spartan"/>
                <a:ea typeface="League Spartan"/>
                <a:cs typeface="League Spartan"/>
                <a:sym typeface="League Spartan"/>
              </a:rPr>
              <a:t>VISIT US</a:t>
            </a:r>
          </a:p>
        </p:txBody>
      </p:sp>
      <p:sp>
        <p:nvSpPr>
          <p:cNvPr id="15" name="TextBox 15"/>
          <p:cNvSpPr txBox="1"/>
          <p:nvPr/>
        </p:nvSpPr>
        <p:spPr>
          <a:xfrm>
            <a:off x="5725983" y="7843327"/>
            <a:ext cx="9890384" cy="548740"/>
          </a:xfrm>
          <a:prstGeom prst="rect">
            <a:avLst/>
          </a:prstGeom>
        </p:spPr>
        <p:txBody>
          <a:bodyPr lIns="0" tIns="0" rIns="0" bIns="0" rtlCol="0" anchor="t">
            <a:spAutoFit/>
          </a:bodyPr>
          <a:lstStyle/>
          <a:p>
            <a:pPr marL="0" lvl="0" indent="0" algn="l">
              <a:lnSpc>
                <a:spcPts val="4641"/>
              </a:lnSpc>
              <a:spcBef>
                <a:spcPct val="0"/>
              </a:spcBef>
            </a:pPr>
            <a:r>
              <a:rPr lang="en-US" sz="3315" dirty="0">
                <a:solidFill>
                  <a:srgbClr val="000000"/>
                </a:solidFill>
                <a:latin typeface="Roboto"/>
                <a:ea typeface="Roboto"/>
                <a:cs typeface="Roboto"/>
                <a:sym typeface="Roboto"/>
                <a:hlinkClick r:id="rId4"/>
              </a:rPr>
              <a:t>https://anirosita.github.io/expense-tracker-pro/ - </a:t>
            </a:r>
            <a:endParaRPr lang="en-US" sz="3315" dirty="0">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F37C3711FDDAD4A90B0EB7CC69BE776" ma:contentTypeVersion="4" ma:contentTypeDescription="Create a new document." ma:contentTypeScope="" ma:versionID="0229da0b116853ac45b6d53c03e26d34">
  <xsd:schema xmlns:xsd="http://www.w3.org/2001/XMLSchema" xmlns:xs="http://www.w3.org/2001/XMLSchema" xmlns:p="http://schemas.microsoft.com/office/2006/metadata/properties" xmlns:ns3="c7593cad-fb1a-4e21-b9da-aaeff0f24b49" targetNamespace="http://schemas.microsoft.com/office/2006/metadata/properties" ma:root="true" ma:fieldsID="42428f5d5ee656ca03419c8c4edf12ed" ns3:_="">
    <xsd:import namespace="c7593cad-fb1a-4e21-b9da-aaeff0f24b4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593cad-fb1a-4e21-b9da-aaeff0f24b4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797AAE-22E8-4927-B39C-02A10368922A}">
  <ds:schemaRefs>
    <ds:schemaRef ds:uri="http://schemas.microsoft.com/sharepoint/v3/contenttype/forms"/>
  </ds:schemaRefs>
</ds:datastoreItem>
</file>

<file path=customXml/itemProps2.xml><?xml version="1.0" encoding="utf-8"?>
<ds:datastoreItem xmlns:ds="http://schemas.openxmlformats.org/officeDocument/2006/customXml" ds:itemID="{4FFB5997-D294-41AD-800D-9B967D0087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593cad-fb1a-4e21-b9da-aaeff0f24b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D531F33-6616-41C1-9511-D45E44CB3B7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27</TotalTime>
  <Words>813</Words>
  <Application>Microsoft Office PowerPoint</Application>
  <PresentationFormat>Custom</PresentationFormat>
  <Paragraphs>126</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Archivo Black</vt:lpstr>
      <vt:lpstr>Poppins</vt:lpstr>
      <vt:lpstr>Roboto Bold</vt:lpstr>
      <vt:lpstr>League Spartan</vt:lpstr>
      <vt:lpstr>Calibri</vt:lpstr>
      <vt:lpstr>Poppins Bold</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&amp; white company profile presentation</dc:title>
  <dc:creator>Ros</dc:creator>
  <cp:lastModifiedBy>S0910653</cp:lastModifiedBy>
  <cp:revision>6</cp:revision>
  <dcterms:created xsi:type="dcterms:W3CDTF">2006-08-16T00:00:00Z</dcterms:created>
  <dcterms:modified xsi:type="dcterms:W3CDTF">2026-08-01T05:37:26Z</dcterms:modified>
  <dc:identifier>DAHQ3AqcVDY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0x010100AF37C3711FDDAD4A90B0EB7CC69BE776</vt:lpwstr>
  </property>
</Properties>
</file>